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98000"/>
            <a:ext cx="648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12263F"/>
                </a:solidFill>
                <a:latin typeface="微软雅黑" panose="020B0503020204020204" charset="-122"/>
              </a:rPr>
              <a:t>本次改进重点：把验证前置环节自动化</a:t>
            </a:r>
            <a:endParaRPr sz="2600" b="1">
              <a:solidFill>
                <a:srgbClr val="12263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8000" y="558000"/>
            <a:ext cx="7920000" cy="1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微软雅黑" panose="020B0503020204020204" charset="-122"/>
              </a:rPr>
              <a:t>不展开旧架构，只讲 7 月 10 日报告中的新增改进与直接收益</a:t>
            </a:r>
            <a:endParaRPr sz="10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0000" y="763200"/>
            <a:ext cx="114480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3491999" cy="185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2000" y="1206000"/>
            <a:ext cx="917999" cy="208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改进 1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8000" y="1494000"/>
            <a:ext cx="30960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Docker 守护进程自动检测</a:t>
            </a:r>
          </a:p>
          <a:p>
            <a:pPr>
              <a:spcAft>
                <a:spcPts val="400"/>
              </a:spcAft>
              <a:defRPr sz="122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未运行时自动启动 Docker Desktop</a:t>
            </a:r>
          </a:p>
          <a:p>
            <a:pPr>
              <a:spcAft>
                <a:spcPts val="400"/>
              </a:spcAft>
              <a:defRPr sz="122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最长等待 300 秒，直到服务就绪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000" y="1080000"/>
            <a:ext cx="3491999" cy="185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00000" y="1206000"/>
            <a:ext cx="917999" cy="2088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改进 2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36000" y="1494000"/>
            <a:ext cx="30960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重构目标地址优先级</a:t>
            </a:r>
          </a:p>
          <a:p>
            <a:pPr>
              <a:spcAft>
                <a:spcPts val="400"/>
              </a:spcAft>
              <a:defRPr sz="122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Vulhub 拉起后使用工作节点局域网地址</a:t>
            </a:r>
          </a:p>
          <a:p>
            <a:pPr>
              <a:spcAft>
                <a:spcPts val="400"/>
              </a:spcAft>
              <a:defRPr sz="122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ATTACK_ENV_TARGET_URL 仅作为无本地靶场时的回退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16000" y="1080000"/>
            <a:ext cx="3491999" cy="185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78000" y="1206000"/>
            <a:ext cx="917999" cy="2088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改进 3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14000" y="1494000"/>
            <a:ext cx="30960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Docker Compose 启动容错</a:t>
            </a:r>
          </a:p>
          <a:p>
            <a:pPr>
              <a:spcAft>
                <a:spcPts val="400"/>
              </a:spcAft>
              <a:defRPr sz="122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pull 阶段失败不再直接阻断 up -d</a:t>
            </a:r>
          </a:p>
          <a:p>
            <a:pPr>
              <a:spcAft>
                <a:spcPts val="400"/>
              </a:spcAft>
              <a:defRPr sz="122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降低镜像仓库不可达对验证流程的影响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3401999"/>
            <a:ext cx="11448000" cy="1512000"/>
          </a:xfrm>
          <a:prstGeom prst="roundRect">
            <a:avLst/>
          </a:prstGeom>
          <a:solidFill>
            <a:srgbClr val="EFF6FF"/>
          </a:solidFill>
          <a:ln w="1397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00" y="3600000"/>
            <a:ext cx="2880000" cy="19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500" b="1">
                <a:solidFill>
                  <a:srgbClr val="12263F"/>
                </a:solidFill>
                <a:latin typeface="微软雅黑" panose="020B0503020204020204" charset="-122"/>
              </a:rPr>
              <a:t>直接收益</a:t>
            </a:r>
            <a:endParaRPr sz="1500" b="1">
              <a:solidFill>
                <a:srgbClr val="12263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0000" y="3924000"/>
            <a:ext cx="8105775" cy="5226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微软雅黑" panose="020B0503020204020204" charset="-122"/>
              </a:rPr>
              <a:t>环境从“人工启动 + 地址易错”变成“自动检测、自动拉起、自动绑定靶场地址”。</a:t>
            </a:r>
            <a:endParaRPr sz="1700" b="1">
              <a:solidFill>
                <a:srgbClr val="2563EB"/>
              </a:solidFill>
              <a:latin typeface="微软雅黑" panose="020B0503020204020204" charset="-122"/>
            </a:endParaRPr>
          </a:p>
          <a:p>
            <a:r>
              <a:rPr sz="1700" b="1">
                <a:solidFill>
                  <a:srgbClr val="2563EB"/>
                </a:solidFill>
                <a:latin typeface="微软雅黑" panose="020B0503020204020204" charset="-122"/>
              </a:rPr>
              <a:t>远程发包引擎能稳定路由到本地容器，减少非业务原因导致的复现失败。</a:t>
            </a:r>
            <a:endParaRPr sz="17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116000" y="5400000"/>
            <a:ext cx="1908000" cy="432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检测 Docker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078000" y="5616000"/>
            <a:ext cx="378000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636000" y="5400000"/>
            <a:ext cx="1908000" cy="432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拉起 Vulhub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598000" y="5616000"/>
            <a:ext cx="378000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56000" y="5400000"/>
            <a:ext cx="1908000" cy="4320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绑定目标地址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8118000" y="5616000"/>
            <a:ext cx="378000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676000" y="5400000"/>
            <a:ext cx="1908000" cy="432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执行验证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0000" y="6570000"/>
            <a:ext cx="3600000" cy="125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微软雅黑" panose="020B0503020204020204" charset="-122"/>
              </a:rPr>
              <a:t>CVE Hunter · 2026-07-10 改进汇报</a:t>
            </a:r>
            <a:endParaRPr sz="78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268000" y="6570000"/>
            <a:ext cx="540000" cy="125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80" b="0">
                <a:solidFill>
                  <a:srgbClr val="64748B"/>
                </a:solidFill>
                <a:latin typeface="微软雅黑" panose="020B0503020204020204" charset="-122"/>
              </a:rPr>
              <a:t>1/3</a:t>
            </a:r>
            <a:endParaRPr sz="78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98000"/>
            <a:ext cx="648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12263F"/>
                </a:solidFill>
                <a:latin typeface="微软雅黑" panose="020B0503020204020204" charset="-122"/>
              </a:rPr>
              <a:t>验证口径改进：成功证据分层更清楚</a:t>
            </a:r>
            <a:endParaRPr sz="2600" b="1">
              <a:solidFill>
                <a:srgbClr val="12263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8000" y="558000"/>
            <a:ext cx="7920000" cy="1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微软雅黑" panose="020B0503020204020204" charset="-122"/>
              </a:rPr>
              <a:t>核心变化：目标侧 Oracle 成功可作为直接证据；IPS 精确命中是增强项，不再是唯一口径</a:t>
            </a:r>
            <a:endParaRPr sz="10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0000" y="763200"/>
            <a:ext cx="114480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3528000" cy="20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2000" y="1206000"/>
            <a:ext cx="917999" cy="2088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一级证据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8000" y="1494000"/>
            <a:ext cx="3132000" cy="156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IPS 日志 CVE 字段精确命中</a:t>
            </a:r>
          </a:p>
          <a:p>
            <a:pPr>
              <a:spcAft>
                <a:spcPts val="400"/>
              </a:spcAft>
              <a:defRPr sz="122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证明安全设备识别到当前 CVE</a:t>
            </a:r>
          </a:p>
          <a:p>
            <a:pPr>
              <a:spcAft>
                <a:spcPts val="400"/>
              </a:spcAft>
              <a:defRPr sz="122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适合作为最终演示的增强证据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000" y="1080000"/>
            <a:ext cx="3528000" cy="20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00000" y="1206000"/>
            <a:ext cx="917999" cy="208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二级证据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36000" y="1494000"/>
            <a:ext cx="3132000" cy="156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目标响应包含预期特征</a:t>
            </a:r>
          </a:p>
          <a:p>
            <a:pPr>
              <a:spcAft>
                <a:spcPts val="400"/>
              </a:spcAft>
              <a:defRPr sz="122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例如敏感文件内容、状态码或回显标记</a:t>
            </a:r>
          </a:p>
          <a:p>
            <a:pPr>
              <a:spcAft>
                <a:spcPts val="400"/>
              </a:spcAft>
              <a:defRPr sz="122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证明漏洞已被实际触发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16000" y="1080000"/>
            <a:ext cx="3528000" cy="20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78000" y="1206000"/>
            <a:ext cx="917999" cy="2088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三级证据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14000" y="1494000"/>
            <a:ext cx="3132000" cy="156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IPS 通用规则命中</a:t>
            </a:r>
          </a:p>
          <a:p>
            <a:pPr>
              <a:spcAft>
                <a:spcPts val="400"/>
              </a:spcAft>
              <a:defRPr sz="122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只能说明流量异常</a:t>
            </a:r>
          </a:p>
          <a:p>
            <a:pPr>
              <a:spcAft>
                <a:spcPts val="400"/>
              </a:spcAft>
              <a:defRPr sz="122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不单独作为复现成功结论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3636000"/>
            <a:ext cx="11448000" cy="1206000"/>
          </a:xfrm>
          <a:prstGeom prst="roundRect">
            <a:avLst/>
          </a:prstGeom>
          <a:solidFill>
            <a:srgbClr val="F0FDFA"/>
          </a:solidFill>
          <a:ln w="1397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00" y="3798000"/>
            <a:ext cx="2700000" cy="1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12263F"/>
                </a:solidFill>
                <a:latin typeface="微软雅黑" panose="020B0503020204020204" charset="-122"/>
              </a:rPr>
              <a:t>本次明确的判定逻辑</a:t>
            </a:r>
            <a:endParaRPr sz="1400" b="1">
              <a:solidFill>
                <a:srgbClr val="12263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0000" y="4060800"/>
            <a:ext cx="7263130" cy="4768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550" b="1">
                <a:solidFill>
                  <a:srgbClr val="0D9488"/>
                </a:solidFill>
                <a:latin typeface="微软雅黑" panose="020B0503020204020204" charset="-122"/>
              </a:rPr>
              <a:t>目标侧 Oracle 验证成功即视为漏洞复现成功；IPS 日志用于交叉验证和展示增强。</a:t>
            </a:r>
            <a:endParaRPr sz="1550" b="1">
              <a:solidFill>
                <a:srgbClr val="0D9488"/>
              </a:solidFill>
              <a:latin typeface="微软雅黑" panose="020B0503020204020204" charset="-122"/>
            </a:endParaRPr>
          </a:p>
          <a:p>
            <a:r>
              <a:rPr sz="1550" b="1">
                <a:solidFill>
                  <a:srgbClr val="0D9488"/>
                </a:solidFill>
                <a:latin typeface="微软雅黑" panose="020B0503020204020204" charset="-122"/>
              </a:rPr>
              <a:t>这样能避免因 IPS 规则、特征库或转发配置问题误伤真实复现结果。</a:t>
            </a:r>
            <a:endParaRPr sz="1550" b="1">
              <a:solidFill>
                <a:srgbClr val="0D9488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0000" y="5274000"/>
            <a:ext cx="2808000" cy="19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500" b="1">
                <a:solidFill>
                  <a:srgbClr val="12263F"/>
                </a:solidFill>
                <a:latin typeface="微软雅黑" panose="020B0503020204020204" charset="-122"/>
              </a:rPr>
              <a:t>已验证案例</a:t>
            </a:r>
            <a:endParaRPr sz="1500" b="1">
              <a:solidFill>
                <a:srgbClr val="12263F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60000" y="5562000"/>
            <a:ext cx="5508000" cy="73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000" y="5680800"/>
            <a:ext cx="1655999" cy="1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1">
                <a:solidFill>
                  <a:srgbClr val="2563EB"/>
                </a:solidFill>
                <a:latin typeface="微软雅黑" panose="020B0503020204020204" charset="-122"/>
              </a:rPr>
              <a:t>CVE-2024-23334</a:t>
            </a:r>
            <a:endParaRPr sz="125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96000" y="5680800"/>
            <a:ext cx="1980000" cy="1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1">
                <a:solidFill>
                  <a:srgbClr val="334155"/>
                </a:solidFill>
                <a:latin typeface="微软雅黑" panose="020B0503020204020204" charset="-122"/>
              </a:rPr>
              <a:t>aiohttp 目录遍历</a:t>
            </a:r>
            <a:endParaRPr sz="1250" b="1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2000" y="5911200"/>
            <a:ext cx="5112000" cy="21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微软雅黑" panose="020B0503020204020204" charset="-122"/>
              </a:rPr>
              <a:t>Oracle 检测响应中 root: 等 /etc/passwd 特征</a:t>
            </a:r>
            <a:endParaRPr sz="10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00000" y="5562000"/>
            <a:ext cx="5508000" cy="73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2000" y="5680800"/>
            <a:ext cx="1655999" cy="1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1">
                <a:solidFill>
                  <a:srgbClr val="2563EB"/>
                </a:solidFill>
                <a:latin typeface="微软雅黑" panose="020B0503020204020204" charset="-122"/>
              </a:rPr>
              <a:t>CVE-2025-32395</a:t>
            </a:r>
            <a:endParaRPr sz="125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36000" y="5680800"/>
            <a:ext cx="1980000" cy="1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1">
                <a:solidFill>
                  <a:srgbClr val="334155"/>
                </a:solidFill>
                <a:latin typeface="微软雅黑" panose="020B0503020204020204" charset="-122"/>
              </a:rPr>
              <a:t>Vite 路径绕过</a:t>
            </a:r>
            <a:endParaRPr sz="1250" b="1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62000" y="5911200"/>
            <a:ext cx="5112000" cy="21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微软雅黑" panose="020B0503020204020204" charset="-122"/>
              </a:rPr>
              <a:t>Oracle 检测敏感文件内容</a:t>
            </a:r>
            <a:endParaRPr sz="10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0000" y="6570000"/>
            <a:ext cx="3600000" cy="125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微软雅黑" panose="020B0503020204020204" charset="-122"/>
              </a:rPr>
              <a:t>CVE Hunter · 2026-07-10 改进汇报</a:t>
            </a:r>
            <a:endParaRPr sz="78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268000" y="6570000"/>
            <a:ext cx="540000" cy="125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80" b="0">
                <a:solidFill>
                  <a:srgbClr val="64748B"/>
                </a:solidFill>
                <a:latin typeface="微软雅黑" panose="020B0503020204020204" charset="-122"/>
              </a:rPr>
              <a:t>2/3</a:t>
            </a:r>
            <a:endParaRPr sz="78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98000"/>
            <a:ext cx="648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12263F"/>
                </a:solidFill>
                <a:latin typeface="微软雅黑" panose="020B0503020204020204" charset="-122"/>
              </a:rPr>
              <a:t>下一步改进：从可跑通走向更高覆盖率</a:t>
            </a:r>
            <a:endParaRPr sz="2600" b="1">
              <a:solidFill>
                <a:srgbClr val="12263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8000" y="558000"/>
            <a:ext cx="7920000" cy="1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微软雅黑" panose="020B0503020204020204" charset="-122"/>
              </a:rPr>
              <a:t>11 个本地 Vulhub 优先 CVE 的批量验证暴露了下一阶段最值得补的能力</a:t>
            </a:r>
            <a:endParaRPr sz="10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0000" y="763200"/>
            <a:ext cx="114480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1512000" cy="84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6000" y="1206000"/>
            <a:ext cx="1242000" cy="23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12263F"/>
                </a:solidFill>
                <a:latin typeface="微软雅黑" panose="020B0503020204020204" charset="-122"/>
              </a:rPr>
              <a:t>11</a:t>
            </a:r>
            <a:endParaRPr sz="2300" b="1">
              <a:solidFill>
                <a:srgbClr val="12263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8000" y="1530000"/>
            <a:ext cx="1278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20" b="0">
                <a:solidFill>
                  <a:srgbClr val="64748B"/>
                </a:solidFill>
                <a:latin typeface="微软雅黑" panose="020B0503020204020204" charset="-122"/>
              </a:rPr>
              <a:t>优先 CVE 总数</a:t>
            </a:r>
            <a:endParaRPr sz="102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250000" y="1080000"/>
            <a:ext cx="1512000" cy="84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6000" y="1206000"/>
            <a:ext cx="1242000" cy="23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16A34A"/>
                </a:solidFill>
                <a:latin typeface="微软雅黑" panose="020B0503020204020204" charset="-122"/>
              </a:rPr>
              <a:t>2</a:t>
            </a:r>
            <a:endParaRPr sz="2300" b="1">
              <a:solidFill>
                <a:srgbClr val="16A34A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58000" y="1530000"/>
            <a:ext cx="1278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20" b="0">
                <a:solidFill>
                  <a:srgbClr val="64748B"/>
                </a:solidFill>
                <a:latin typeface="微软雅黑" panose="020B0503020204020204" charset="-122"/>
              </a:rPr>
              <a:t>验证成功</a:t>
            </a:r>
            <a:endParaRPr sz="102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40000" y="1080000"/>
            <a:ext cx="1512000" cy="84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6000" y="1206000"/>
            <a:ext cx="1242000" cy="23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D97706"/>
                </a:solidFill>
                <a:latin typeface="微软雅黑" panose="020B0503020204020204" charset="-122"/>
              </a:rPr>
              <a:t>3</a:t>
            </a:r>
            <a:endParaRPr sz="23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48000" y="1530000"/>
            <a:ext cx="1278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20" b="0">
                <a:solidFill>
                  <a:srgbClr val="64748B"/>
                </a:solidFill>
                <a:latin typeface="微软雅黑" panose="020B0503020204020204" charset="-122"/>
              </a:rPr>
              <a:t>目标验证未通过</a:t>
            </a:r>
            <a:endParaRPr sz="102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30000" y="1080000"/>
            <a:ext cx="1512000" cy="84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6000" y="1206000"/>
            <a:ext cx="1242000" cy="23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DC2626"/>
                </a:solidFill>
                <a:latin typeface="微软雅黑" panose="020B0503020204020204" charset="-122"/>
              </a:rPr>
              <a:t>4</a:t>
            </a:r>
            <a:endParaRPr sz="23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38000" y="1530000"/>
            <a:ext cx="1278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20" b="0">
                <a:solidFill>
                  <a:srgbClr val="64748B"/>
                </a:solidFill>
                <a:latin typeface="微软雅黑" panose="020B0503020204020204" charset="-122"/>
              </a:rPr>
              <a:t>非 HTTP 类型</a:t>
            </a:r>
            <a:endParaRPr sz="102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920000" y="1080000"/>
            <a:ext cx="1512000" cy="84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000" y="1206000"/>
            <a:ext cx="1242000" cy="23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2563EB"/>
                </a:solidFill>
                <a:latin typeface="微软雅黑" panose="020B0503020204020204" charset="-122"/>
              </a:rPr>
              <a:t>2</a:t>
            </a:r>
            <a:endParaRPr sz="23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28000" y="1530000"/>
            <a:ext cx="1278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20" b="0">
                <a:solidFill>
                  <a:srgbClr val="64748B"/>
                </a:solidFill>
                <a:latin typeface="微软雅黑" panose="020B0503020204020204" charset="-122"/>
              </a:rPr>
              <a:t>环境/服务问题</a:t>
            </a:r>
            <a:endParaRPr sz="102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810000" y="1080000"/>
            <a:ext cx="1512000" cy="84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36000" y="1206000"/>
            <a:ext cx="1242000" cy="23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0D9488"/>
                </a:solidFill>
                <a:latin typeface="微软雅黑" panose="020B0503020204020204" charset="-122"/>
              </a:rPr>
              <a:t>28.6%</a:t>
            </a:r>
            <a:endParaRPr sz="2300" b="1">
              <a:solidFill>
                <a:srgbClr val="0D9488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918000" y="1530000"/>
            <a:ext cx="1278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20" b="0">
                <a:solidFill>
                  <a:srgbClr val="64748B"/>
                </a:solidFill>
                <a:latin typeface="微软雅黑" panose="020B0503020204020204" charset="-122"/>
              </a:rPr>
              <a:t>排除非 HTTP 后成功率</a:t>
            </a:r>
            <a:endParaRPr sz="102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0000" y="2322000"/>
            <a:ext cx="3600000" cy="19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500" b="1">
                <a:solidFill>
                  <a:srgbClr val="12263F"/>
                </a:solidFill>
                <a:latin typeface="微软雅黑" panose="020B0503020204020204" charset="-122"/>
              </a:rPr>
              <a:t>改进优先级</a:t>
            </a:r>
            <a:endParaRPr sz="1500" b="1">
              <a:solidFill>
                <a:srgbClr val="12263F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60000" y="2646000"/>
            <a:ext cx="11448000" cy="7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58000" y="2808000"/>
            <a:ext cx="342000" cy="342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98000" y="2771999"/>
            <a:ext cx="2628000" cy="1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2263F"/>
                </a:solidFill>
                <a:latin typeface="微软雅黑" panose="020B0503020204020204" charset="-122"/>
              </a:rPr>
              <a:t>扩展非 HTTP 执行器</a:t>
            </a:r>
            <a:endParaRPr sz="1300" b="1">
              <a:solidFill>
                <a:srgbClr val="12263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26000" y="2775600"/>
            <a:ext cx="7560000" cy="27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50" b="0">
                <a:solidFill>
                  <a:srgbClr val="334155"/>
                </a:solidFill>
                <a:latin typeface="微软雅黑" panose="020B0503020204020204" charset="-122"/>
              </a:rPr>
              <a:t>覆盖消息代理、文件格式类漏洞，优先处理 Airflow 等高危样本</a:t>
            </a:r>
            <a:endParaRPr sz="1150" b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60000" y="3456000"/>
            <a:ext cx="11448000" cy="7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8000" y="3617999"/>
            <a:ext cx="342000" cy="342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98000" y="3581999"/>
            <a:ext cx="2628000" cy="1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2263F"/>
                </a:solidFill>
                <a:latin typeface="微软雅黑" panose="020B0503020204020204" charset="-122"/>
              </a:rPr>
              <a:t>增强 PoC 质量</a:t>
            </a:r>
            <a:endParaRPr sz="1300" b="1">
              <a:solidFill>
                <a:srgbClr val="12263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726000" y="3585599"/>
            <a:ext cx="7560000" cy="27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50" b="0">
                <a:solidFill>
                  <a:srgbClr val="334155"/>
                </a:solidFill>
                <a:latin typeface="微软雅黑" panose="020B0503020204020204" charset="-122"/>
              </a:rPr>
              <a:t>加入路径变体枚举、编码策略和 SSRF 回连确认，减少“信息不足/路径偏差”失败</a:t>
            </a:r>
            <a:endParaRPr sz="1150" b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60000" y="4266000"/>
            <a:ext cx="11448000" cy="7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58000" y="4428000"/>
            <a:ext cx="342000" cy="342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98000" y="4392000"/>
            <a:ext cx="2628000" cy="1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2263F"/>
                </a:solidFill>
                <a:latin typeface="微软雅黑" panose="020B0503020204020204" charset="-122"/>
              </a:rPr>
              <a:t>补齐 IPS 精确证据</a:t>
            </a:r>
            <a:endParaRPr sz="1300" b="1">
              <a:solidFill>
                <a:srgbClr val="12263F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726000" y="4395600"/>
            <a:ext cx="7560000" cy="27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50" b="0">
                <a:solidFill>
                  <a:srgbClr val="334155"/>
                </a:solidFill>
                <a:latin typeface="微软雅黑" panose="020B0503020204020204" charset="-122"/>
              </a:rPr>
              <a:t>协调转发与规则配置，让已成功案例同时获得 CVE 精确命中</a:t>
            </a:r>
            <a:endParaRPr sz="1150" b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60000" y="5076000"/>
            <a:ext cx="11448000" cy="7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8000" y="5238000"/>
            <a:ext cx="342000" cy="342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98000" y="5202000"/>
            <a:ext cx="2628000" cy="1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2263F"/>
                </a:solidFill>
                <a:latin typeface="微软雅黑" panose="020B0503020204020204" charset="-122"/>
              </a:rPr>
              <a:t>复杂靶场健康检查</a:t>
            </a:r>
            <a:endParaRPr sz="1300" b="1">
              <a:solidFill>
                <a:srgbClr val="12263F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726000" y="5205600"/>
            <a:ext cx="7560000" cy="27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50" b="0">
                <a:solidFill>
                  <a:srgbClr val="334155"/>
                </a:solidFill>
                <a:latin typeface="微软雅黑" panose="020B0503020204020204" charset="-122"/>
              </a:rPr>
              <a:t>多容器启动、端口冲突、服务就绪探测与失败分桶自动记录</a:t>
            </a:r>
            <a:endParaRPr sz="1150" b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360000" y="6030000"/>
            <a:ext cx="11448000" cy="3420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8000" y="6112800"/>
            <a:ext cx="11088000" cy="136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80" b="1">
                <a:solidFill>
                  <a:srgbClr val="D97706"/>
                </a:solidFill>
                <a:latin typeface="微软雅黑" panose="020B0503020204020204" charset="-122"/>
              </a:rPr>
              <a:t>汇报结论：本轮重点不是重复介绍系统，而是说明环境自动化和验证口径已补齐，下一步集中提升协议覆盖、PoC 成功率和证据完整性。</a:t>
            </a:r>
            <a:endParaRPr sz="108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60000" y="6570000"/>
            <a:ext cx="3600000" cy="125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微软雅黑" panose="020B0503020204020204" charset="-122"/>
              </a:rPr>
              <a:t>CVE Hunter · 2026-07-10 改进汇报</a:t>
            </a:r>
            <a:endParaRPr sz="78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268000" y="6570000"/>
            <a:ext cx="540000" cy="125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80" b="0">
                <a:solidFill>
                  <a:srgbClr val="64748B"/>
                </a:solidFill>
                <a:latin typeface="微软雅黑" panose="020B0503020204020204" charset="-122"/>
              </a:rPr>
              <a:t>3/3</a:t>
            </a:r>
            <a:endParaRPr sz="78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1162</Words>
  <Application>WPS 演示</Application>
  <PresentationFormat>On-screen Show (4:3)</PresentationFormat>
  <Paragraphs>144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禹光忍</cp:lastModifiedBy>
  <cp:revision>2</cp:revision>
  <dcterms:created xsi:type="dcterms:W3CDTF">2013-01-27T09:14:00Z</dcterms:created>
  <dcterms:modified xsi:type="dcterms:W3CDTF">2026-07-14T06:04:38Z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4F08DE3FD3B44C45A0FB5867E117F3F2_12</vt:lpwstr>
  </property>
  <property fmtid="{D5CDD505-2E9C-101B-9397-08002B2CF9AE}" pid="3" name="KSOProductBuildVer">
    <vt:lpwstr>2052-12.1.0.23542</vt:lpwstr>
  </property>
</Properties>
</file>