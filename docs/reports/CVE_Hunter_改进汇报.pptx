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9" r:id="rId3"/>
    <p:sldId id="261" r:id="rId5"/>
    <p:sldId id="260" r:id="rId6"/>
    <p:sldId id="256" r:id="rId7"/>
    <p:sldId id="257" r:id="rId8"/>
    <p:sldId id="258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 panose="020B0503020204020204" charset="-122"/>
              </a:rPr>
              <a:t>重点讲 AutoEG 的核心思想：它把 exploit generation 拆成 Phase A 和 Phase B。Phase A 不是直接发包，而是从 CVE 描述和 references 中抽出一个 trigger function，也就是稳定的漏洞触发逻辑。图上半部分的三个 agent 分别是 Extractor、Validator、Refiner，用测试驱动方式把触发函数修正到和漏洞资料一致。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然后看图下半部分 Phase B：同一个 trigger function 会根据不同 attack objectives 被实例化成多个 exploit，再由 Executor 执行。如果服务端返回失败原因，比如文件类型不允许，Refiner 只改必要参数，而不是重写整套逻辑。最后留下能达成攻击目标的 working exploits。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这篇论文对我们最重要的启发是：不要只让 LLM 生成一个 Raw HTTP，而是把“漏洞为什么能触发”和“当前环境怎么发包”拆开。当前项目的 TriggerAgent、validation_hint、target_oracle、Reflection 都是在往这个方向靠。</a:t>
            </a: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 panose="020B0503020204020204" charset="-122"/>
              </a:rPr>
              <a:t>这一页是给观众解释上一页图的。主线只讲一句：先稳定漏洞语义，再适配目标环境。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Phase A 对应的是漏洞语义层：输入是 CVE、NVD references、PoC 片段和文章，输出是 trigger function。这个函数不等于最终 exploit，它表达的是漏洞成立所依赖的固定条件，例如关键路径、参数、特殊编码、HTTP 方法和预期行为。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Phase B 对应的是环境绑定层：同一个 trigger function 面向具体目标 URL 和攻击目标生成 exploit，然后根据运行反馈修正。比如目标说只允许 jpg/gif，就只改文件名或 payload 包装，不改漏洞触发逻辑。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映射到 CVE Hunter：TriggerAgent 负责 trigger/hint，PoC Pool 保存候选请求，Critic 做候选审查，Verifier 执行，Oracle 组合 IPS 和目标侧证据。下一步最该补的是 failure_class、多步 request_steps 和更强的 target_oracle。</a:t>
            </a: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 panose="020B0503020204020204" charset="-122"/>
              </a:rPr>
              <a:t>这页讲当前待补充样本如何排队。Excel 总清单 2602 条，已有 1361 条工作流生成记录。当前已经整理出 1228 条未在工作流实现的 CVE，并按信息丰富度拆成 A/B/C 三档：A 有 404 条，信息最充分；B 有 574 条，适合抽样看 agent 补全能力；C 有 250 条，信息少，暂时不作为主战场。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排序思路是先看信息丰富度，再看环境可用性。也就是说不是所有 A 组都马上跑，而是优先找 A 组里有 Vulhub compose、Docker 镜像、README 复现请求的样本。右侧 A-env 11 条已经在本地 third_party/vulhub 命中 compose 和 README，可以作为镜像预拉取队列。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汇报时强调：预拉镜像的目的不是直接批量攻击，而是降低本地靶场启动等待，并把启动失败原因记录回 EnvironmentAgent。执行方式建议单 CVE 逐个 pull/up，避免批量并发拉镜像造成网络和磁盘压力。</a:t>
            </a: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 panose="020B0503020204020204" charset="-122"/>
              </a:rPr>
              <a:t>这一页讲 6 月 13 日之后的总体变化。不要陷入文件数细节，重点说项目从串行脚本变成了可控的复现引擎。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第一，环境规划前置。HTTP 分类之后先进入 EnvironmentAgent，找到 compose 或 Vulhub 环境，推断 target_url，并写 environment_manifest。第二，安全执行边界明确：默认 plan_only，不真实发包；需要 local_lab 或 authorized_target 才能执行，且受 allowlist 和请求预算限制。第三，多 agent 角色开始成型，Trigger、Critic、Verifier、Oracle 分工更清楚。第四，证据链更完整，result.json 不只给最终状态，还能回看 agent_trace、candidate_reviews、attempt_history 和 milestones。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当前工作区额外增强了本地 KB、PCAP/Vulhub README 反解 Raw HTTP、raw socket 原样发包，以及只有当前 CVE IPS 命中才写成功知识库。</a:t>
            </a: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 panose="020B0503020204020204" charset="-122"/>
              </a:rPr>
              <a:t>这一页讲环境搭建能力的准确边界。当前不是从零自动生成任意漏洞环境，而是发现、绑定、可选启动已有环境。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主路径是：输入 CVE 后查 NVD 并判断 HTTP 类型，然后 EnvironmentAgent 查找显式 ATTACK_ENV_COMPOSE_FILE 或 third_party/vulhub 下的 CVE compose。找到后解析 ports，优先选 Web 服务端口，推断 target_url。只有 AUTO_ENV_ENABLED=true 时才执行 docker compose pull 和 up -d。执行策略还要经过 RUN_MODE 和 allowlist 检查。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要强调 manifest 的价值：每次运行都记录 target_url、compose_file、setup_mode、setup_result 和 safety.network_scope，后面可以用于复现、排错和批量统计。边界也要说清楚：目前不能自动选择版本镜像、初始化账号/数据、执行安装向导或做健康修复。</a:t>
            </a: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 panose="020B0503020204020204" charset="-122"/>
              </a:rPr>
              <a:t>这一页讲多 agent 编排。LangGraph 负责把节点串起来，agent_trace 和 attempt_history 负责留下审计证据。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按流水线讲：Environment 负责目标环境；Trigger 抽象触发逻辑和 validation_hint；PoC Pool 收集 Reference、本地 KB、nuclei、Exploit-DB、Web 搜索等候选；Critic 在执行前检查候选格式、证据和置信度；Verifier 执行 raw HTTP、nuclei 或 request_steps；Oracle 组合当前 CVE IPS 命中、通用 IPS 命中和目标侧 oracle；Reporter 写 result/report。</a:t>
            </a:r>
            <a:endParaRPr sz="1200">
              <a:latin typeface="微软雅黑" panose="020B0503020204020204" charset="-122"/>
            </a:endParaRPr>
          </a:p>
          <a:p>
            <a:r>
              <a:rPr sz="1200">
                <a:latin typeface="微软雅黑" panose="020B0503020204020204" charset="-122"/>
              </a:rPr>
              <a:t>重点强调为什么这有用：以前失败可能只剩一个状态码，现在能定位是环境缺失、候选不对、请求失败、IPS 只有通用命中，还是目标侧成功但缺少 IPS 证据。目标侧成功不会直接放宽 CAPTURE_SUCCESS，这保证交付口径稳。</a:t>
            </a: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250" b="1">
                <a:solidFill>
                  <a:srgbClr val="0F172A"/>
                </a:solidFill>
                <a:latin typeface="微软雅黑" panose="020B0503020204020204" charset="-122"/>
              </a:rPr>
              <a:t>AutoEG 论文对标：Trigger Function + 运行反馈</a:t>
            </a:r>
            <a:endParaRPr sz="225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932688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4748B"/>
                </a:solidFill>
                <a:latin typeface="微软雅黑" panose="020B0503020204020204" charset="-122"/>
              </a:rPr>
              <a:t>AutoEG: Exploiting Known Third-Party Vulnerabilities in Black-Box Web Applications（Yang et al., arXiv 2026）</a:t>
            </a:r>
            <a:endParaRPr sz="8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41732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>
                <a:solidFill>
                  <a:srgbClr val="0D746A"/>
                </a:solidFill>
                <a:latin typeface="微软雅黑" panose="020B0503020204020204" charset="-122"/>
              </a:rPr>
              <a:t>AutoEG</a:t>
            </a:r>
            <a:endParaRPr sz="8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124712"/>
            <a:ext cx="6629400" cy="5175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40"/>
            <a:ext cx="6300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论文 Figure 3：Overall architecture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pic>
        <p:nvPicPr>
          <p:cNvPr id="9" name="Picture 8" descr="autoeg_figure3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26464"/>
            <a:ext cx="6108192" cy="482473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88352" y="1124712"/>
            <a:ext cx="4288536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1252919"/>
            <a:ext cx="3959352" cy="21907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CN" sz="1140" b="1">
                <a:solidFill>
                  <a:srgbClr val="0F172A"/>
                </a:solidFill>
                <a:latin typeface="微软雅黑" panose="020B0503020204020204" charset="-122"/>
              </a:rPr>
              <a:t>论文</a:t>
            </a: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看法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6096" y="1517904"/>
            <a:ext cx="3794760" cy="694944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2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920" b="0">
                <a:solidFill>
                  <a:srgbClr val="2C374B"/>
                </a:solidFill>
                <a:latin typeface="微软雅黑" panose="020B0503020204020204" charset="-122"/>
              </a:rPr>
              <a:t>不是端到端让 LLM 写脚本。</a:t>
            </a:r>
            <a:endParaRPr sz="92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2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920" b="0">
                <a:solidFill>
                  <a:srgbClr val="2C374B"/>
                </a:solidFill>
                <a:latin typeface="微软雅黑" panose="020B0503020204020204" charset="-122"/>
              </a:rPr>
              <a:t>先抽漏洞语义，再绑定目标环境。</a:t>
            </a:r>
            <a:endParaRPr sz="92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2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920" b="0">
                <a:solidFill>
                  <a:srgbClr val="2C374B"/>
                </a:solidFill>
                <a:latin typeface="微软雅黑" panose="020B0503020204020204" charset="-122"/>
              </a:rPr>
              <a:t>验证/修正每个中间产物。</a:t>
            </a:r>
            <a:endParaRPr sz="92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88352" y="2633472"/>
            <a:ext cx="4288536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2743200"/>
            <a:ext cx="395935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六个 Agent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6096" y="2999232"/>
            <a:ext cx="3749039" cy="475488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20" b="1">
                <a:solidFill>
                  <a:srgbClr val="2563EB"/>
                </a:solidFill>
                <a:latin typeface="微软雅黑" panose="020B0503020204020204" charset="-122"/>
              </a:rPr>
              <a:t>• </a:t>
            </a:r>
            <a:r>
              <a:rPr sz="920" b="0">
                <a:solidFill>
                  <a:srgbClr val="2C374B"/>
                </a:solidFill>
                <a:latin typeface="微软雅黑" panose="020B0503020204020204" charset="-122"/>
              </a:rPr>
              <a:t>Phase A：Extractor / Validator / Refiner。</a:t>
            </a:r>
            <a:endParaRPr sz="92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20" b="1">
                <a:solidFill>
                  <a:srgbClr val="2563EB"/>
                </a:solidFill>
                <a:latin typeface="微软雅黑" panose="020B0503020204020204" charset="-122"/>
              </a:rPr>
              <a:t>• </a:t>
            </a:r>
            <a:r>
              <a:rPr sz="920" b="0">
                <a:solidFill>
                  <a:srgbClr val="2C374B"/>
                </a:solidFill>
                <a:latin typeface="微软雅黑" panose="020B0503020204020204" charset="-122"/>
              </a:rPr>
              <a:t>Phase B：Generator / Executor / Refiner。</a:t>
            </a:r>
            <a:endParaRPr sz="92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88352" y="3877056"/>
            <a:ext cx="4288536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3986784"/>
            <a:ext cx="395935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评估数字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26096" y="4242816"/>
            <a:ext cx="3767328" cy="493776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87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870" b="0">
                <a:solidFill>
                  <a:srgbClr val="2C374B"/>
                </a:solidFill>
                <a:latin typeface="微软雅黑" panose="020B0503020204020204" charset="-122"/>
              </a:rPr>
              <a:t>104 个真实漏洞，29 类攻击目标。</a:t>
            </a:r>
            <a:endParaRPr sz="87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87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870" b="0">
                <a:solidFill>
                  <a:srgbClr val="2C374B"/>
                </a:solidFill>
                <a:latin typeface="微软雅黑" panose="020B0503020204020204" charset="-122"/>
              </a:rPr>
              <a:t>660 个任务，55,440 次 exploit attempts。</a:t>
            </a:r>
            <a:endParaRPr sz="87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87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870" b="0">
                <a:solidFill>
                  <a:srgbClr val="2C374B"/>
                </a:solidFill>
                <a:latin typeface="微软雅黑" panose="020B0503020204020204" charset="-122"/>
              </a:rPr>
              <a:t>平均成功率 82.41%；最佳 baseline 32.88%。</a:t>
            </a:r>
            <a:endParaRPr sz="8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88352" y="5120640"/>
            <a:ext cx="4288536" cy="1179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5230368"/>
            <a:ext cx="395935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对当前项目启发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6096" y="5495544"/>
            <a:ext cx="3803904" cy="603504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880" b="1">
                <a:solidFill>
                  <a:srgbClr val="CA7000"/>
                </a:solidFill>
                <a:latin typeface="微软雅黑" panose="020B0503020204020204" charset="-122"/>
              </a:rPr>
              <a:t>• </a:t>
            </a:r>
            <a:r>
              <a:rPr sz="880" b="0">
                <a:solidFill>
                  <a:srgbClr val="2C374B"/>
                </a:solidFill>
                <a:latin typeface="微软雅黑" panose="020B0503020204020204" charset="-122"/>
              </a:rPr>
              <a:t>保持 CAPTURE_SUCCESS 严格口径；补强 target_oracle 证据。</a:t>
            </a:r>
            <a:endParaRPr sz="88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880" b="1">
                <a:solidFill>
                  <a:srgbClr val="CA7000"/>
                </a:solidFill>
                <a:latin typeface="微软雅黑" panose="020B0503020204020204" charset="-122"/>
              </a:rPr>
              <a:t>• </a:t>
            </a:r>
            <a:r>
              <a:rPr sz="880" b="0">
                <a:solidFill>
                  <a:srgbClr val="2C374B"/>
                </a:solidFill>
                <a:latin typeface="微软雅黑" panose="020B0503020204020204" charset="-122"/>
              </a:rPr>
              <a:t>下一步把 trigger function、failure_class、多步绑定作为一等对象。</a:t>
            </a:r>
            <a:endParaRPr sz="88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64748B"/>
                </a:solidFill>
                <a:latin typeface="微软雅黑" panose="020B0503020204020204" charset="-122"/>
              </a:rPr>
              <a:t>来源：08_Yang_2026_AutoEG.pdf Figure 3 / Overview / Experiments；docs/references/zotero_import/网仪项目参考/AutoEG详细总结.md</a:t>
            </a:r>
            <a:endParaRPr sz="7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0D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39814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250" b="1">
                <a:solidFill>
                  <a:srgbClr val="0F172A"/>
                </a:solidFill>
                <a:latin typeface="微软雅黑" panose="020B0503020204020204" charset="-122"/>
              </a:rPr>
              <a:t>AutoEG </a:t>
            </a:r>
            <a:endParaRPr sz="225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41732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>
                <a:solidFill>
                  <a:srgbClr val="0D746A"/>
                </a:solidFill>
                <a:latin typeface="微软雅黑" panose="020B0503020204020204" charset="-122"/>
              </a:rPr>
              <a:t>Paper Guide</a:t>
            </a:r>
            <a:endParaRPr sz="8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7396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89304"/>
            <a:ext cx="10844784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1">
                <a:solidFill>
                  <a:srgbClr val="0F172A"/>
                </a:solidFill>
                <a:latin typeface="微软雅黑" panose="020B0503020204020204" charset="-122"/>
              </a:rPr>
              <a:t>一句话主线</a:t>
            </a:r>
            <a:endParaRPr sz="123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56132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F172A"/>
                </a:solidFill>
                <a:latin typeface="微软雅黑" panose="020B0503020204020204" charset="-122"/>
              </a:rPr>
              <a:t>AutoEG 把自动利用拆成两段：先构造可复用的 Trigger Function，再针对目标应用和攻击目标生成、执行、修正 exploit。</a:t>
            </a:r>
            <a:endParaRPr sz="1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544068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907791"/>
            <a:ext cx="511149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1">
                <a:solidFill>
                  <a:srgbClr val="0F172A"/>
                </a:solidFill>
                <a:latin typeface="微软雅黑" panose="020B0503020204020204" charset="-122"/>
              </a:rPr>
              <a:t>Phase A：稳定漏洞语义</a:t>
            </a:r>
            <a:endParaRPr sz="123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" y="3273552"/>
            <a:ext cx="4892040" cy="10972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微软雅黑" panose="020B0503020204020204" charset="-122"/>
              </a:rPr>
              <a:t>• </a:t>
            </a:r>
            <a:r>
              <a:rPr sz="1100" b="0">
                <a:solidFill>
                  <a:srgbClr val="2C374B"/>
                </a:solidFill>
                <a:latin typeface="微软雅黑" panose="020B0503020204020204" charset="-122"/>
              </a:rPr>
              <a:t>输入：CVE 描述、NVD references、PoC 片段、分析文章。</a:t>
            </a:r>
            <a:endParaRPr sz="11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微软雅黑" panose="020B0503020204020204" charset="-122"/>
              </a:rPr>
              <a:t>• </a:t>
            </a:r>
            <a:r>
              <a:rPr sz="1100" b="0">
                <a:solidFill>
                  <a:srgbClr val="2C374B"/>
                </a:solidFill>
                <a:latin typeface="微软雅黑" panose="020B0503020204020204" charset="-122"/>
              </a:rPr>
              <a:t>输出：Trigger Function，描述“怎样触发漏洞”。</a:t>
            </a:r>
            <a:endParaRPr sz="11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微软雅黑" panose="020B0503020204020204" charset="-122"/>
              </a:rPr>
              <a:t>• </a:t>
            </a:r>
            <a:r>
              <a:rPr sz="1100" b="0">
                <a:solidFill>
                  <a:srgbClr val="2C374B"/>
                </a:solidFill>
                <a:latin typeface="微软雅黑" panose="020B0503020204020204" charset="-122"/>
              </a:rPr>
              <a:t>Extractor / Validator / Refiner 负责抽取、测试和修正，避免 LLM 改错关键符号。</a:t>
            </a:r>
            <a:endParaRPr sz="11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36208" y="2788920"/>
            <a:ext cx="544068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07791"/>
            <a:ext cx="511149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1">
                <a:solidFill>
                  <a:srgbClr val="0F172A"/>
                </a:solidFill>
                <a:latin typeface="微软雅黑" panose="020B0503020204020204" charset="-122"/>
              </a:rPr>
              <a:t>Phase B：适配目标环境</a:t>
            </a:r>
            <a:endParaRPr sz="123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960" y="3273552"/>
            <a:ext cx="4892040" cy="109728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1100" b="0">
                <a:solidFill>
                  <a:srgbClr val="2C374B"/>
                </a:solidFill>
                <a:latin typeface="微软雅黑" panose="020B0503020204020204" charset="-122"/>
              </a:rPr>
              <a:t>输入：已验证的 Trigger Function、目标 URL、attack objectives。</a:t>
            </a:r>
            <a:endParaRPr sz="11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1100" b="0">
                <a:solidFill>
                  <a:srgbClr val="2C374B"/>
                </a:solidFill>
                <a:latin typeface="微软雅黑" panose="020B0503020204020204" charset="-122"/>
              </a:rPr>
              <a:t>Generator 生成具体 exploit，Executor 执行并判断是否达成目标。</a:t>
            </a:r>
            <a:endParaRPr sz="11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1100" b="0">
                <a:solidFill>
                  <a:srgbClr val="2C374B"/>
                </a:solidFill>
                <a:latin typeface="微软雅黑" panose="020B0503020204020204" charset="-122"/>
              </a:rPr>
              <a:t>Refiner 根据服务端响应做最小修改，直到成功或达到轮次上限。</a:t>
            </a:r>
            <a:endParaRPr sz="11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5047488"/>
            <a:ext cx="111739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5166359"/>
            <a:ext cx="10844784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1">
                <a:solidFill>
                  <a:srgbClr val="0F172A"/>
                </a:solidFill>
                <a:latin typeface="微软雅黑" panose="020B0503020204020204" charset="-122"/>
              </a:rPr>
              <a:t>和 CVE Hunter 的对应关系</a:t>
            </a:r>
            <a:endParaRPr sz="123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5468112"/>
            <a:ext cx="1508760" cy="438912"/>
          </a:xfrm>
          <a:prstGeom prst="roundRect">
            <a:avLst/>
          </a:prstGeom>
          <a:solidFill>
            <a:srgbClr val="E5ED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64008" rtlCol="0" anchor="ctr"/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charset="-122"/>
              </a:rPr>
              <a:t>TriggerAgent</a:t>
            </a:r>
            <a:endParaRPr sz="1200" b="1">
              <a:solidFill>
                <a:srgbClr val="2563EB"/>
              </a:solidFill>
              <a:latin typeface="微软雅黑" panose="020B0503020204020204" charset="-122"/>
            </a:endParaRPr>
          </a:p>
          <a:p>
            <a:pPr algn="ctr"/>
            <a:r>
              <a:rPr sz="900" b="0">
                <a:solidFill>
                  <a:srgbClr val="2C374B"/>
                </a:solidFill>
                <a:latin typeface="微软雅黑" panose="020B0503020204020204" charset="-122"/>
              </a:rPr>
              <a:t>trigger_logic / hint</a:t>
            </a:r>
            <a:endParaRPr sz="9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2395728" y="5687568"/>
            <a:ext cx="53035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880360" y="5641848"/>
            <a:ext cx="91440" cy="91440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5468112"/>
            <a:ext cx="1508760" cy="438912"/>
          </a:xfrm>
          <a:prstGeom prst="roundRect">
            <a:avLst/>
          </a:prstGeom>
          <a:solidFill>
            <a:srgbClr val="FFF5E0"/>
          </a:solidFill>
          <a:ln w="12700">
            <a:solidFill>
              <a:srgbClr val="C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64008" rtlCol="0" anchor="ctr"/>
          <a:lstStyle/>
          <a:p>
            <a:pPr algn="ctr"/>
            <a:r>
              <a:rPr sz="1200" b="1">
                <a:solidFill>
                  <a:srgbClr val="CA7000"/>
                </a:solidFill>
                <a:latin typeface="微软雅黑" panose="020B0503020204020204" charset="-122"/>
              </a:rPr>
              <a:t>PoC Pool</a:t>
            </a:r>
            <a:endParaRPr sz="1200" b="1">
              <a:solidFill>
                <a:srgbClr val="CA7000"/>
              </a:solidFill>
              <a:latin typeface="微软雅黑" panose="020B0503020204020204" charset="-122"/>
            </a:endParaRPr>
          </a:p>
          <a:p>
            <a:pPr algn="ctr"/>
            <a:r>
              <a:rPr sz="900" b="0">
                <a:solidFill>
                  <a:srgbClr val="2C374B"/>
                </a:solidFill>
                <a:latin typeface="微软雅黑" panose="020B0503020204020204" charset="-122"/>
              </a:rPr>
              <a:t>raw / nuclei / steps</a:t>
            </a:r>
            <a:endParaRPr sz="9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4498848" y="5687568"/>
            <a:ext cx="53035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983480" y="5641848"/>
            <a:ext cx="91440" cy="91440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74920" y="5468112"/>
            <a:ext cx="1508760" cy="438912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64008" rtlCol="0" anchor="ctr"/>
          <a:lstStyle/>
          <a:p>
            <a:pPr algn="ctr"/>
            <a:r>
              <a:rPr sz="1200" b="1">
                <a:solidFill>
                  <a:srgbClr val="6D28D9"/>
                </a:solidFill>
                <a:latin typeface="微软雅黑" panose="020B0503020204020204" charset="-122"/>
              </a:rPr>
              <a:t>Critic</a:t>
            </a:r>
            <a:endParaRPr sz="1200" b="1">
              <a:solidFill>
                <a:srgbClr val="6D28D9"/>
              </a:solidFill>
              <a:latin typeface="微软雅黑" panose="020B0503020204020204" charset="-122"/>
            </a:endParaRPr>
          </a:p>
          <a:p>
            <a:pPr algn="ctr"/>
            <a:r>
              <a:rPr sz="900" b="0">
                <a:solidFill>
                  <a:srgbClr val="2C374B"/>
                </a:solidFill>
                <a:latin typeface="微软雅黑" panose="020B0503020204020204" charset="-122"/>
              </a:rPr>
              <a:t>证据与格式审查</a:t>
            </a:r>
            <a:endParaRPr sz="9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601968" y="5687568"/>
            <a:ext cx="53035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086600" y="5641848"/>
            <a:ext cx="91440" cy="91440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78040" y="5468112"/>
            <a:ext cx="1508760" cy="438912"/>
          </a:xfrm>
          <a:prstGeom prst="roundRect">
            <a:avLst/>
          </a:prstGeom>
          <a:solidFill>
            <a:srgbClr val="E0F5F2"/>
          </a:solidFill>
          <a:ln w="1270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64008" rtlCol="0" anchor="ctr"/>
          <a:lstStyle/>
          <a:p>
            <a:pPr algn="ctr"/>
            <a:r>
              <a:rPr sz="1200" b="1">
                <a:solidFill>
                  <a:srgbClr val="0D746A"/>
                </a:solidFill>
                <a:latin typeface="微软雅黑" panose="020B0503020204020204" charset="-122"/>
              </a:rPr>
              <a:t>Verifier</a:t>
            </a:r>
            <a:endParaRPr sz="1200" b="1">
              <a:solidFill>
                <a:srgbClr val="0D746A"/>
              </a:solidFill>
              <a:latin typeface="微软雅黑" panose="020B0503020204020204" charset="-122"/>
            </a:endParaRPr>
          </a:p>
          <a:p>
            <a:pPr algn="ctr"/>
            <a:r>
              <a:rPr sz="900" b="0">
                <a:solidFill>
                  <a:srgbClr val="2C374B"/>
                </a:solidFill>
                <a:latin typeface="微软雅黑" panose="020B0503020204020204" charset="-122"/>
              </a:rPr>
              <a:t>执行与采证</a:t>
            </a:r>
            <a:endParaRPr sz="9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8705088" y="5687568"/>
            <a:ext cx="53035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9189719" y="5641848"/>
            <a:ext cx="91440" cy="91440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81160" y="5468112"/>
            <a:ext cx="1691640" cy="438912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C8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64008" rtlCol="0" anchor="ctr"/>
          <a:lstStyle/>
          <a:p>
            <a:pPr algn="ctr"/>
            <a:r>
              <a:rPr sz="1200" b="1">
                <a:solidFill>
                  <a:srgbClr val="C82929"/>
                </a:solidFill>
                <a:latin typeface="微软雅黑" panose="020B0503020204020204" charset="-122"/>
              </a:rPr>
              <a:t>Oracle</a:t>
            </a:r>
            <a:endParaRPr sz="1200" b="1">
              <a:solidFill>
                <a:srgbClr val="C82929"/>
              </a:solidFill>
              <a:latin typeface="微软雅黑" panose="020B0503020204020204" charset="-122"/>
            </a:endParaRPr>
          </a:p>
          <a:p>
            <a:pPr algn="ctr"/>
            <a:r>
              <a:rPr sz="900" b="0">
                <a:solidFill>
                  <a:srgbClr val="2C374B"/>
                </a:solidFill>
                <a:latin typeface="微软雅黑" panose="020B0503020204020204" charset="-122"/>
              </a:rPr>
              <a:t>IPS + target</a:t>
            </a:r>
            <a:endParaRPr sz="9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64748B"/>
                </a:solidFill>
                <a:latin typeface="微软雅黑" panose="020B0503020204020204" charset="-122"/>
              </a:rPr>
              <a:t>讲解重点：AutoEG 的价值在于“trigger function + runtime feedback”；当前项目已具备雏形，下一步要把 failure_class、多步绑定和 target_oracle 做扎实。</a:t>
            </a:r>
            <a:endParaRPr sz="7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0D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2250" b="1">
                <a:solidFill>
                  <a:srgbClr val="0F172A"/>
                </a:solidFill>
                <a:latin typeface="微软雅黑" panose="020B0503020204020204" charset="-122"/>
              </a:rPr>
              <a:t>待补充 CVE：信息丰富度排序与镜像预拉取</a:t>
            </a:r>
            <a:endParaRPr sz="225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96926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0">
                <a:solidFill>
                  <a:srgbClr val="64748B"/>
                </a:solidFill>
                <a:latin typeface="微软雅黑" panose="020B0503020204020204" charset="-122"/>
              </a:rPr>
              <a:t>目标：把 1228 条未实现样本先排出可复现优先级，再把有本地 Vulhub 环境的 CVE 作为镜像预拉取队列</a:t>
            </a:r>
            <a:endParaRPr sz="8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41732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>
                <a:solidFill>
                  <a:srgbClr val="0D746A"/>
                </a:solidFill>
                <a:latin typeface="微软雅黑" panose="020B0503020204020204" charset="-122"/>
              </a:rPr>
              <a:t>Priority</a:t>
            </a:r>
            <a:endParaRPr sz="8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2971800" cy="5102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80160"/>
            <a:ext cx="2642616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</a:rPr>
              <a:t>样本漏斗</a:t>
            </a:r>
            <a:endParaRPr sz="12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4672" y="1664208"/>
            <a:ext cx="1078992" cy="658368"/>
          </a:xfrm>
          <a:prstGeom prst="roundRect">
            <a:avLst/>
          </a:prstGeom>
          <a:solidFill>
            <a:srgbClr val="E5ED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2602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  <a:p>
            <a:pPr algn="ctr"/>
            <a:r>
              <a:rPr sz="770" b="0">
                <a:solidFill>
                  <a:srgbClr val="64748B"/>
                </a:solidFill>
                <a:latin typeface="微软雅黑" panose="020B0503020204020204" charset="-122"/>
              </a:rPr>
              <a:t>Excel 总清单</a:t>
            </a:r>
            <a:endParaRPr sz="77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29968" y="1664208"/>
            <a:ext cx="1078992" cy="658368"/>
          </a:xfrm>
          <a:prstGeom prst="roundRect">
            <a:avLst/>
          </a:prstGeom>
          <a:solidFill>
            <a:srgbClr val="E4F8EB"/>
          </a:solidFill>
          <a:ln w="10160">
            <a:solidFill>
              <a:srgbClr val="168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8B44"/>
                </a:solidFill>
                <a:latin typeface="微软雅黑" panose="020B0503020204020204" charset="-122"/>
              </a:rPr>
              <a:t>1361</a:t>
            </a:r>
            <a:endParaRPr sz="1800" b="1">
              <a:solidFill>
                <a:srgbClr val="168B44"/>
              </a:solidFill>
              <a:latin typeface="微软雅黑" panose="020B0503020204020204" charset="-122"/>
            </a:endParaRPr>
          </a:p>
          <a:p>
            <a:pPr algn="ctr"/>
            <a:r>
              <a:rPr sz="770" b="0">
                <a:solidFill>
                  <a:srgbClr val="64748B"/>
                </a:solidFill>
                <a:latin typeface="微软雅黑" panose="020B0503020204020204" charset="-122"/>
              </a:rPr>
              <a:t>已生成</a:t>
            </a:r>
            <a:endParaRPr sz="77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542032"/>
            <a:ext cx="2331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4000"/>
              </a:lnSpc>
            </a:pPr>
            <a:r>
              <a:rPr sz="1020" b="1">
                <a:solidFill>
                  <a:srgbClr val="0F172A"/>
                </a:solidFill>
                <a:latin typeface="微软雅黑" panose="020B0503020204020204" charset="-122"/>
              </a:rPr>
              <a:t>当前已整理待补充样本</a:t>
            </a:r>
            <a:endParaRPr sz="102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43000" y="2907792"/>
            <a:ext cx="1691640" cy="749808"/>
          </a:xfrm>
          <a:prstGeom prst="roundRect">
            <a:avLst/>
          </a:prstGeom>
          <a:solidFill>
            <a:srgbClr val="FFF5E0"/>
          </a:solidFill>
          <a:ln w="10160">
            <a:solidFill>
              <a:srgbClr val="C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A7000"/>
                </a:solidFill>
                <a:latin typeface="微软雅黑" panose="020B0503020204020204" charset="-122"/>
              </a:rPr>
              <a:t>1228</a:t>
            </a:r>
            <a:endParaRPr sz="1800" b="1">
              <a:solidFill>
                <a:srgbClr val="CA7000"/>
              </a:solidFill>
              <a:latin typeface="微软雅黑" panose="020B0503020204020204" charset="-122"/>
            </a:endParaRPr>
          </a:p>
          <a:p>
            <a:pPr algn="ctr"/>
            <a:r>
              <a:rPr sz="770" b="0">
                <a:solidFill>
                  <a:srgbClr val="64748B"/>
                </a:solidFill>
                <a:latin typeface="微软雅黑" panose="020B0503020204020204" charset="-122"/>
              </a:rPr>
              <a:t>未在工作流实现</a:t>
            </a:r>
            <a:endParaRPr sz="77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719072" y="3730752"/>
            <a:ext cx="0" cy="402335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1673351" y="4087368"/>
            <a:ext cx="91440" cy="91440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4297680"/>
            <a:ext cx="804672" cy="594360"/>
          </a:xfrm>
          <a:prstGeom prst="roundRect">
            <a:avLst/>
          </a:prstGeom>
          <a:solidFill>
            <a:srgbClr val="E0F5F2"/>
          </a:solidFill>
          <a:ln w="1016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746A"/>
                </a:solidFill>
                <a:latin typeface="微软雅黑" panose="020B0503020204020204" charset="-122"/>
              </a:rPr>
              <a:t>404</a:t>
            </a:r>
            <a:endParaRPr sz="1800" b="1">
              <a:solidFill>
                <a:srgbClr val="0D746A"/>
              </a:solidFill>
              <a:latin typeface="微软雅黑" panose="020B0503020204020204" charset="-122"/>
            </a:endParaRPr>
          </a:p>
          <a:p>
            <a:pPr algn="ctr"/>
            <a:r>
              <a:rPr sz="770" b="0">
                <a:solidFill>
                  <a:srgbClr val="64748B"/>
                </a:solidFill>
                <a:latin typeface="微软雅黑" panose="020B0503020204020204" charset="-122"/>
              </a:rPr>
              <a:t>A 丰富</a:t>
            </a:r>
            <a:endParaRPr sz="77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719072" y="4297680"/>
            <a:ext cx="804672" cy="594360"/>
          </a:xfrm>
          <a:prstGeom prst="roundRect">
            <a:avLst/>
          </a:prstGeom>
          <a:solidFill>
            <a:srgbClr val="E5ED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574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  <a:p>
            <a:pPr algn="ctr"/>
            <a:r>
              <a:rPr sz="770" b="0">
                <a:solidFill>
                  <a:srgbClr val="64748B"/>
                </a:solidFill>
                <a:latin typeface="微软雅黑" panose="020B0503020204020204" charset="-122"/>
              </a:rPr>
              <a:t>B 中等</a:t>
            </a:r>
            <a:endParaRPr sz="77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3345" y="4297680"/>
            <a:ext cx="676910" cy="594360"/>
          </a:xfrm>
          <a:prstGeom prst="roundRect">
            <a:avLst/>
          </a:prstGeom>
          <a:solidFill>
            <a:srgbClr val="FFE8E8"/>
          </a:solidFill>
          <a:ln w="10160">
            <a:solidFill>
              <a:srgbClr val="C8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82929"/>
                </a:solidFill>
                <a:latin typeface="微软雅黑" panose="020B0503020204020204" charset="-122"/>
              </a:rPr>
              <a:t>2</a:t>
            </a:r>
            <a:r>
              <a:rPr lang="en-US" sz="1800" b="1">
                <a:solidFill>
                  <a:srgbClr val="C82929"/>
                </a:solidFill>
                <a:latin typeface="微软雅黑" panose="020B0503020204020204" charset="-122"/>
              </a:rPr>
              <a:t>5</a:t>
            </a:r>
            <a:r>
              <a:rPr sz="1800" b="1">
                <a:solidFill>
                  <a:srgbClr val="C82929"/>
                </a:solidFill>
                <a:latin typeface="微软雅黑" panose="020B0503020204020204" charset="-122"/>
              </a:rPr>
              <a:t>0</a:t>
            </a:r>
            <a:endParaRPr sz="1800" b="1">
              <a:solidFill>
                <a:srgbClr val="C82929"/>
              </a:solidFill>
              <a:latin typeface="微软雅黑" panose="020B0503020204020204" charset="-122"/>
            </a:endParaRPr>
          </a:p>
          <a:p>
            <a:pPr algn="ctr"/>
            <a:r>
              <a:rPr sz="770" b="0">
                <a:solidFill>
                  <a:srgbClr val="64748B"/>
                </a:solidFill>
                <a:latin typeface="微软雅黑" panose="020B0503020204020204" charset="-122"/>
              </a:rPr>
              <a:t>C 较少</a:t>
            </a:r>
            <a:endParaRPr sz="77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672" y="5212080"/>
            <a:ext cx="2487168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lnSpc>
                <a:spcPct val="104000"/>
              </a:lnSpc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</a:rPr>
              <a:t>执行顺序：A 全量优先，B 抽样补全，C 暂缓作为极端样本。</a:t>
            </a:r>
            <a:endParaRPr sz="94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730752" y="1170432"/>
            <a:ext cx="3749039" cy="5102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1280160"/>
            <a:ext cx="3419856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</a:rPr>
              <a:t>排序规则：先看信息，再看环境</a:t>
            </a:r>
            <a:endParaRPr sz="12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05072" y="1627632"/>
            <a:ext cx="3246120" cy="123444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1000" b="0">
                <a:solidFill>
                  <a:srgbClr val="2C374B"/>
                </a:solidFill>
                <a:latin typeface="微软雅黑" panose="020B0503020204020204" charset="-122"/>
              </a:rPr>
              <a:t>信息丰富度：NVD references、公开 PoC、nuclei/trickest、清晰触发条件。</a:t>
            </a:r>
            <a:endParaRPr sz="10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1000" b="0">
                <a:solidFill>
                  <a:srgbClr val="2C374B"/>
                </a:solidFill>
                <a:latin typeface="微软雅黑" panose="020B0503020204020204" charset="-122"/>
              </a:rPr>
              <a:t>环境可用性：Vulhub compose、Docker 镜像、README 复现请求、端口可推断。</a:t>
            </a:r>
            <a:endParaRPr sz="10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1000" b="0">
                <a:solidFill>
                  <a:srgbClr val="2C374B"/>
                </a:solidFill>
                <a:latin typeface="微软雅黑" panose="020B0503020204020204" charset="-122"/>
              </a:rPr>
              <a:t>执行价值：能产出 raw HTTP、PCAP/IPS 证据或 target oracle。</a:t>
            </a:r>
            <a:endParaRPr sz="10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41648" y="3218688"/>
            <a:ext cx="1325880" cy="749808"/>
          </a:xfrm>
          <a:prstGeom prst="roundRect">
            <a:avLst/>
          </a:prstGeom>
          <a:solidFill>
            <a:srgbClr val="E0F5F2"/>
          </a:solidFill>
          <a:ln w="1143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30" b="1">
                <a:solidFill>
                  <a:srgbClr val="0D746A"/>
                </a:solidFill>
                <a:latin typeface="微软雅黑" panose="020B0503020204020204" charset="-122"/>
              </a:rPr>
              <a:t>1  分组排序</a:t>
            </a:r>
            <a:endParaRPr sz="930" b="1">
              <a:solidFill>
                <a:srgbClr val="0D746A"/>
              </a:solidFill>
              <a:latin typeface="微软雅黑" panose="020B0503020204020204" charset="-122"/>
            </a:endParaRPr>
          </a:p>
          <a:p>
            <a:pPr algn="ctr"/>
            <a:r>
              <a:rPr sz="790" b="0">
                <a:solidFill>
                  <a:srgbClr val="2C374B"/>
                </a:solidFill>
                <a:latin typeface="微软雅黑" panose="020B0503020204020204" charset="-122"/>
              </a:rPr>
              <a:t>A &gt; B &gt; C
先跑信息充分样本</a:t>
            </a:r>
            <a:endParaRPr sz="79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50992" y="3218688"/>
            <a:ext cx="1325880" cy="749808"/>
          </a:xfrm>
          <a:prstGeom prst="roundRect">
            <a:avLst/>
          </a:prstGeom>
          <a:solidFill>
            <a:srgbClr val="FFF5E0"/>
          </a:solidFill>
          <a:ln w="11430">
            <a:solidFill>
              <a:srgbClr val="C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30" b="1">
                <a:solidFill>
                  <a:srgbClr val="CA7000"/>
                </a:solidFill>
                <a:latin typeface="微软雅黑" panose="020B0503020204020204" charset="-122"/>
              </a:rPr>
              <a:t>2  环境提升</a:t>
            </a:r>
            <a:endParaRPr sz="930" b="1">
              <a:solidFill>
                <a:srgbClr val="CA7000"/>
              </a:solidFill>
              <a:latin typeface="微软雅黑" panose="020B0503020204020204" charset="-122"/>
            </a:endParaRPr>
          </a:p>
          <a:p>
            <a:pPr algn="ctr"/>
            <a:r>
              <a:rPr sz="790" b="0">
                <a:solidFill>
                  <a:srgbClr val="2C374B"/>
                </a:solidFill>
                <a:latin typeface="微软雅黑" panose="020B0503020204020204" charset="-122"/>
              </a:rPr>
              <a:t>A 中有 compose
提升为 A-env</a:t>
            </a:r>
            <a:endParaRPr sz="79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846320" y="4407408"/>
            <a:ext cx="1325880" cy="749808"/>
          </a:xfrm>
          <a:prstGeom prst="roundRect">
            <a:avLst/>
          </a:prstGeom>
          <a:solidFill>
            <a:srgbClr val="E4F8EB"/>
          </a:solidFill>
          <a:ln w="11430">
            <a:solidFill>
              <a:srgbClr val="168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30" b="1">
                <a:solidFill>
                  <a:srgbClr val="168B44"/>
                </a:solidFill>
                <a:latin typeface="微软雅黑" panose="020B0503020204020204" charset="-122"/>
              </a:rPr>
              <a:t>3  预拉镜像</a:t>
            </a:r>
            <a:endParaRPr sz="930" b="1">
              <a:solidFill>
                <a:srgbClr val="168B44"/>
              </a:solidFill>
              <a:latin typeface="微软雅黑" panose="020B0503020204020204" charset="-122"/>
            </a:endParaRPr>
          </a:p>
          <a:p>
            <a:pPr algn="ctr"/>
            <a:r>
              <a:rPr sz="790" b="0">
                <a:solidFill>
                  <a:srgbClr val="2C374B"/>
                </a:solidFill>
                <a:latin typeface="微软雅黑" panose="020B0503020204020204" charset="-122"/>
              </a:rPr>
              <a:t>docker compose pull
减少运行等待</a:t>
            </a:r>
            <a:endParaRPr sz="79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367528" y="3593592"/>
            <a:ext cx="283464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5605272" y="3547872"/>
            <a:ext cx="91440" cy="91440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5504688" y="3986784"/>
            <a:ext cx="146304" cy="420624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0800000">
            <a:off x="5458968" y="4361688"/>
            <a:ext cx="91440" cy="91440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4846320" y="3986784"/>
            <a:ext cx="237744" cy="420624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0800000">
            <a:off x="5038344" y="4361688"/>
            <a:ext cx="91440" cy="91440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5072" y="5394960"/>
            <a:ext cx="324612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lnSpc>
                <a:spcPct val="104000"/>
              </a:lnSpc>
            </a:pPr>
            <a:r>
              <a:rPr sz="940" b="1">
                <a:solidFill>
                  <a:srgbClr val="6D28D9"/>
                </a:solidFill>
                <a:latin typeface="微软雅黑" panose="020B0503020204020204" charset="-122"/>
              </a:rPr>
              <a:t>输出：镜像缓存 + environment_manifest + 启动失败原因，反哺 EnvironmentAgent。</a:t>
            </a:r>
            <a:endParaRPr sz="94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754112" y="1170432"/>
            <a:ext cx="3922776" cy="5102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8704" y="1280160"/>
            <a:ext cx="35935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</a:rPr>
              <a:t>镜像预拉取队列：A-env 11 条</a:t>
            </a:r>
            <a:endParaRPr sz="12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28431" y="1591056"/>
            <a:ext cx="3429000" cy="40233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lnSpc>
                <a:spcPct val="104000"/>
              </a:lnSpc>
            </a:pPr>
            <a:r>
              <a:rPr sz="1000" b="1">
                <a:solidFill>
                  <a:srgbClr val="168B44"/>
                </a:solidFill>
                <a:latin typeface="微软雅黑" panose="020B0503020204020204" charset="-122"/>
              </a:rPr>
              <a:t>这 11 条均已在 third_party/vulhub 命中 compose 和 README。</a:t>
            </a:r>
            <a:endParaRPr sz="1000" b="1">
              <a:solidFill>
                <a:srgbClr val="168B44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28431" y="2121408"/>
            <a:ext cx="3429000" cy="89611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7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970" b="0">
                <a:solidFill>
                  <a:srgbClr val="2C374B"/>
                </a:solidFill>
                <a:latin typeface="微软雅黑" panose="020B0503020204020204" charset="-122"/>
              </a:rPr>
              <a:t>先执行 compose pull，缓存镜像。</a:t>
            </a:r>
            <a:endParaRPr sz="97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7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970" b="0">
                <a:solidFill>
                  <a:srgbClr val="2C374B"/>
                </a:solidFill>
                <a:latin typeface="微软雅黑" panose="020B0503020204020204" charset="-122"/>
              </a:rPr>
              <a:t>再按 local_lab 启动验证，记录端口和健康状态。</a:t>
            </a:r>
            <a:endParaRPr sz="97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7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970" b="0">
                <a:solidFill>
                  <a:srgbClr val="2C374B"/>
                </a:solidFill>
                <a:latin typeface="微软雅黑" panose="020B0503020204020204" charset="-122"/>
              </a:rPr>
              <a:t>失败按镜像缺失、版本不符、初始化缺失分桶。</a:t>
            </a:r>
            <a:endParaRPr sz="9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028431" y="3310128"/>
            <a:ext cx="1508760" cy="265176"/>
          </a:xfrm>
          <a:prstGeom prst="roundRect">
            <a:avLst/>
          </a:prstGeom>
          <a:solidFill>
            <a:srgbClr val="E0F5F2"/>
          </a:solidFill>
          <a:ln w="762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0D746A"/>
                </a:solidFill>
                <a:latin typeface="微软雅黑" panose="020B0503020204020204" charset="-122"/>
              </a:rPr>
              <a:t>python  CVE-2024-23334</a:t>
            </a:r>
            <a:endParaRPr sz="7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28431" y="3694176"/>
            <a:ext cx="1508760" cy="265176"/>
          </a:xfrm>
          <a:prstGeom prst="roundRect">
            <a:avLst/>
          </a:prstGeom>
          <a:solidFill>
            <a:srgbClr val="E0F5F2"/>
          </a:solidFill>
          <a:ln w="762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0D746A"/>
                </a:solidFill>
                <a:latin typeface="微软雅黑" panose="020B0503020204020204" charset="-122"/>
              </a:rPr>
              <a:t>rails  CVE-2018-3760</a:t>
            </a:r>
            <a:endParaRPr sz="7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28431" y="4078224"/>
            <a:ext cx="1508760" cy="265176"/>
          </a:xfrm>
          <a:prstGeom prst="roundRect">
            <a:avLst/>
          </a:prstGeom>
          <a:solidFill>
            <a:srgbClr val="E0F5F2"/>
          </a:solidFill>
          <a:ln w="762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0D746A"/>
                </a:solidFill>
                <a:latin typeface="微软雅黑" panose="020B0503020204020204" charset="-122"/>
              </a:rPr>
              <a:t>vite  CVE-2025-32395</a:t>
            </a:r>
            <a:endParaRPr sz="7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028431" y="4462272"/>
            <a:ext cx="1508760" cy="265176"/>
          </a:xfrm>
          <a:prstGeom prst="roundRect">
            <a:avLst/>
          </a:prstGeom>
          <a:solidFill>
            <a:srgbClr val="E0F5F2"/>
          </a:solidFill>
          <a:ln w="762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0D746A"/>
                </a:solidFill>
                <a:latin typeface="微软雅黑" panose="020B0503020204020204" charset="-122"/>
              </a:rPr>
              <a:t>geoserver  CVE-2021-40822</a:t>
            </a:r>
            <a:endParaRPr sz="7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28431" y="4846320"/>
            <a:ext cx="1508760" cy="265176"/>
          </a:xfrm>
          <a:prstGeom prst="roundRect">
            <a:avLst/>
          </a:prstGeom>
          <a:solidFill>
            <a:srgbClr val="E0F5F2"/>
          </a:solidFill>
          <a:ln w="762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0D746A"/>
                </a:solidFill>
                <a:latin typeface="微软雅黑" panose="020B0503020204020204" charset="-122"/>
              </a:rPr>
              <a:t>ghostscript  CVE-2018-19475</a:t>
            </a:r>
            <a:endParaRPr sz="7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028431" y="5230368"/>
            <a:ext cx="1508760" cy="265176"/>
          </a:xfrm>
          <a:prstGeom prst="roundRect">
            <a:avLst/>
          </a:prstGeom>
          <a:solidFill>
            <a:srgbClr val="E0F5F2"/>
          </a:solidFill>
          <a:ln w="762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0D746A"/>
                </a:solidFill>
                <a:latin typeface="微软雅黑" panose="020B0503020204020204" charset="-122"/>
              </a:rPr>
              <a:t>ghostscript  CVE-2019-6116</a:t>
            </a:r>
            <a:endParaRPr sz="7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720072" y="3310128"/>
            <a:ext cx="1508760" cy="265176"/>
          </a:xfrm>
          <a:prstGeom prst="roundRect">
            <a:avLst/>
          </a:prstGeom>
          <a:solidFill>
            <a:srgbClr val="E5EDFF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2563EB"/>
                </a:solidFill>
                <a:latin typeface="微软雅黑" panose="020B0503020204020204" charset="-122"/>
              </a:rPr>
              <a:t>adminer  CVE-2021-21311</a:t>
            </a:r>
            <a:endParaRPr sz="78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720072" y="3694176"/>
            <a:ext cx="1508760" cy="265176"/>
          </a:xfrm>
          <a:prstGeom prst="roundRect">
            <a:avLst/>
          </a:prstGeom>
          <a:solidFill>
            <a:srgbClr val="E5EDFF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2563EB"/>
                </a:solidFill>
                <a:latin typeface="微软雅黑" panose="020B0503020204020204" charset="-122"/>
              </a:rPr>
              <a:t>django  CVE-2020-9402</a:t>
            </a:r>
            <a:endParaRPr sz="78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720072" y="4078224"/>
            <a:ext cx="1508760" cy="265176"/>
          </a:xfrm>
          <a:prstGeom prst="roundRect">
            <a:avLst/>
          </a:prstGeom>
          <a:solidFill>
            <a:srgbClr val="E5EDFF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2563EB"/>
                </a:solidFill>
                <a:latin typeface="微软雅黑" panose="020B0503020204020204" charset="-122"/>
              </a:rPr>
              <a:t>gitlab  CVE-2016-9086</a:t>
            </a:r>
            <a:endParaRPr sz="78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720072" y="4462272"/>
            <a:ext cx="1508760" cy="265176"/>
          </a:xfrm>
          <a:prstGeom prst="roundRect">
            <a:avLst/>
          </a:prstGeom>
          <a:solidFill>
            <a:srgbClr val="E5EDFF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2563EB"/>
                </a:solidFill>
                <a:latin typeface="微软雅黑" panose="020B0503020204020204" charset="-122"/>
              </a:rPr>
              <a:t>airflow  CVE-2020-11981</a:t>
            </a:r>
            <a:endParaRPr sz="78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720072" y="4846320"/>
            <a:ext cx="1508760" cy="265176"/>
          </a:xfrm>
          <a:prstGeom prst="roundRect">
            <a:avLst/>
          </a:prstGeom>
          <a:solidFill>
            <a:srgbClr val="E5EDFF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2563EB"/>
                </a:solidFill>
                <a:latin typeface="微软雅黑" panose="020B0503020204020204" charset="-122"/>
              </a:rPr>
              <a:t>cups  CVE-2024-47177</a:t>
            </a:r>
            <a:endParaRPr sz="78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028431" y="5650992"/>
            <a:ext cx="34290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建议：单 CVE 逐个 pull/up，避免批量并发拉镜像。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700" b="0">
                <a:solidFill>
                  <a:srgbClr val="64748B"/>
                </a:solidFill>
                <a:latin typeface="微软雅黑" panose="020B0503020204020204" charset="-122"/>
              </a:rPr>
              <a:t>来源：data/待补充cve.xlsx；data/test_cases/A/B/C 分组；A_优先复现_有本地环境.txt；third_party/vulhub compose/README 命中检查</a:t>
            </a:r>
            <a:endParaRPr sz="7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39814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250" b="1">
                <a:solidFill>
                  <a:srgbClr val="0F172A"/>
                </a:solidFill>
                <a:latin typeface="微软雅黑" panose="020B0503020204020204" charset="-122"/>
              </a:rPr>
              <a:t>改进总览：从流程脚本到可控复现引擎</a:t>
            </a:r>
            <a:endParaRPr sz="225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932688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4748B"/>
                </a:solidFill>
                <a:latin typeface="微软雅黑" panose="020B0503020204020204" charset="-122"/>
              </a:rPr>
              <a:t>范围：GitHub db7e4b8（2026-06-13 23:45）+ 当前工作区未提交增强；汇报日期：2026-06-18</a:t>
            </a:r>
            <a:endParaRPr sz="8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41732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>
                <a:solidFill>
                  <a:srgbClr val="0D746A"/>
                </a:solidFill>
                <a:latin typeface="微软雅黑" panose="020B0503020204020204" charset="-122"/>
              </a:rPr>
              <a:t>Overview</a:t>
            </a:r>
            <a:endParaRPr sz="8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743200" cy="2057400"/>
          </a:xfrm>
          <a:prstGeom prst="roundRect">
            <a:avLst/>
          </a:prstGeom>
          <a:solidFill>
            <a:srgbClr val="E0F5F2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0744"/>
            <a:ext cx="23774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D746A"/>
                </a:solidFill>
                <a:latin typeface="微软雅黑" panose="020B0503020204020204" charset="-122"/>
              </a:rPr>
              <a:t>环境前置</a:t>
            </a:r>
            <a:endParaRPr sz="120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088" y="1764792"/>
            <a:ext cx="2340864" cy="1399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20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1200" b="0">
                <a:solidFill>
                  <a:srgbClr val="2C374B"/>
                </a:solidFill>
                <a:latin typeface="微软雅黑" panose="020B0503020204020204" charset="-122"/>
              </a:rPr>
              <a:t>HTTP 分类后进入 EnvironmentAgent</a:t>
            </a:r>
            <a:endParaRPr sz="12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20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1200" b="0">
                <a:solidFill>
                  <a:srgbClr val="2C374B"/>
                </a:solidFill>
                <a:latin typeface="微软雅黑" panose="020B0503020204020204" charset="-122"/>
              </a:rPr>
              <a:t>发现 compose / Vulhub 并推断 target</a:t>
            </a:r>
            <a:endParaRPr sz="12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20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1200" b="0">
                <a:solidFill>
                  <a:srgbClr val="2C374B"/>
                </a:solidFill>
                <a:latin typeface="微软雅黑" panose="020B0503020204020204" charset="-122"/>
              </a:rPr>
              <a:t>写入 environment_manifest</a:t>
            </a:r>
            <a:endParaRPr sz="12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29000" y="1234440"/>
            <a:ext cx="2743200" cy="2057400"/>
          </a:xfrm>
          <a:prstGeom prst="roundRect">
            <a:avLst/>
          </a:prstGeom>
          <a:solidFill>
            <a:srgbClr val="E5ED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380744"/>
            <a:ext cx="23774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</a:rPr>
              <a:t>安全执行</a:t>
            </a:r>
            <a:endParaRPr sz="1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30168" y="1764792"/>
            <a:ext cx="2340864" cy="1399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  <a:buClrTx/>
              <a:buSzTx/>
              <a:buNone/>
            </a:pPr>
            <a:r>
              <a:rPr sz="1200">
                <a:solidFill>
                  <a:srgbClr val="2C374B"/>
                </a:solidFill>
                <a:latin typeface="微软雅黑" panose="020B0503020204020204" charset="-122"/>
              </a:rPr>
              <a:t>• 默认 RUN_MODE=plan_only</a:t>
            </a:r>
            <a:endParaRPr sz="1200">
              <a:solidFill>
                <a:srgbClr val="2C374B"/>
              </a:solidFill>
              <a:latin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200"/>
              </a:spcAft>
              <a:buClrTx/>
              <a:buSzTx/>
              <a:buNone/>
            </a:pPr>
            <a:r>
              <a:rPr sz="1200">
                <a:solidFill>
                  <a:srgbClr val="2C374B"/>
                </a:solidFill>
                <a:latin typeface="微软雅黑" panose="020B0503020204020204" charset="-122"/>
              </a:rPr>
              <a:t>• local_lab / authorized_target 分级</a:t>
            </a:r>
            <a:endParaRPr sz="1200">
              <a:solidFill>
                <a:srgbClr val="2C374B"/>
              </a:solidFill>
              <a:latin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200"/>
              </a:spcAft>
              <a:buClrTx/>
              <a:buSzTx/>
              <a:buNone/>
            </a:pPr>
            <a:r>
              <a:rPr sz="1200">
                <a:solidFill>
                  <a:srgbClr val="2C374B"/>
                </a:solidFill>
                <a:latin typeface="微软雅黑" panose="020B0503020204020204" charset="-122"/>
              </a:rPr>
              <a:t>• allowlist 与请求预算硬约束</a:t>
            </a:r>
            <a:endParaRPr sz="120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55080" y="1234440"/>
            <a:ext cx="2743200" cy="2057400"/>
          </a:xfrm>
          <a:prstGeom prst="roundRect">
            <a:avLst/>
          </a:prstGeom>
          <a:solidFill>
            <a:srgbClr val="F0EA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80744"/>
            <a:ext cx="23774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D28D9"/>
                </a:solidFill>
                <a:latin typeface="微软雅黑" panose="020B0503020204020204" charset="-122"/>
              </a:rPr>
              <a:t>多 Agent</a:t>
            </a:r>
            <a:endParaRPr sz="12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56248" y="1764792"/>
            <a:ext cx="2340864" cy="1399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  <a:buClrTx/>
              <a:buSzTx/>
              <a:buNone/>
            </a:pPr>
            <a:r>
              <a:rPr sz="1200">
                <a:solidFill>
                  <a:srgbClr val="2C374B"/>
                </a:solidFill>
                <a:latin typeface="微软雅黑" panose="020B0503020204020204" charset="-122"/>
              </a:rPr>
              <a:t>• Trigger 抽象触发逻辑</a:t>
            </a:r>
            <a:endParaRPr sz="1200">
              <a:solidFill>
                <a:srgbClr val="2C374B"/>
              </a:solidFill>
              <a:latin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200"/>
              </a:spcAft>
              <a:buClrTx/>
              <a:buSzTx/>
              <a:buNone/>
            </a:pPr>
            <a:r>
              <a:rPr sz="1200">
                <a:solidFill>
                  <a:srgbClr val="2C374B"/>
                </a:solidFill>
                <a:latin typeface="微软雅黑" panose="020B0503020204020204" charset="-122"/>
              </a:rPr>
              <a:t>• Critic 审查候选</a:t>
            </a:r>
            <a:endParaRPr sz="1200">
              <a:solidFill>
                <a:srgbClr val="2C374B"/>
              </a:solidFill>
              <a:latin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200"/>
              </a:spcAft>
              <a:buClrTx/>
              <a:buSzTx/>
              <a:buNone/>
            </a:pPr>
            <a:r>
              <a:rPr sz="1200">
                <a:solidFill>
                  <a:srgbClr val="2C374B"/>
                </a:solidFill>
                <a:latin typeface="微软雅黑" panose="020B0503020204020204" charset="-122"/>
              </a:rPr>
              <a:t>• Verifier/Oracle 拆分执行与判定</a:t>
            </a:r>
            <a:endParaRPr sz="120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281160" y="1234440"/>
            <a:ext cx="2395728" cy="2057400"/>
          </a:xfrm>
          <a:prstGeom prst="roundRect">
            <a:avLst/>
          </a:prstGeom>
          <a:solidFill>
            <a:srgbClr val="E4F8EB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1380744"/>
            <a:ext cx="202996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8B44"/>
                </a:solidFill>
                <a:latin typeface="微软雅黑" panose="020B0503020204020204" charset="-122"/>
              </a:rPr>
              <a:t>证据链</a:t>
            </a:r>
            <a:endParaRPr sz="1200" b="1">
              <a:solidFill>
                <a:srgbClr val="168B44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82328" y="1764792"/>
            <a:ext cx="1993392" cy="1399032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  <a:buClrTx/>
              <a:buSzTx/>
              <a:buNone/>
            </a:pPr>
            <a:r>
              <a:rPr sz="1200">
                <a:solidFill>
                  <a:srgbClr val="2C374B"/>
                </a:solidFill>
                <a:latin typeface="微软雅黑" panose="020B0503020204020204" charset="-122"/>
              </a:rPr>
              <a:t>• agent_trace</a:t>
            </a:r>
            <a:endParaRPr sz="1200">
              <a:solidFill>
                <a:srgbClr val="2C374B"/>
              </a:solidFill>
              <a:latin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200"/>
              </a:spcAft>
              <a:buClrTx/>
              <a:buSzTx/>
              <a:buNone/>
            </a:pPr>
            <a:r>
              <a:rPr sz="1200">
                <a:solidFill>
                  <a:srgbClr val="2C374B"/>
                </a:solidFill>
                <a:latin typeface="微软雅黑" panose="020B0503020204020204" charset="-122"/>
              </a:rPr>
              <a:t>• candidate_reviews</a:t>
            </a:r>
            <a:endParaRPr sz="1200">
              <a:solidFill>
                <a:srgbClr val="2C374B"/>
              </a:solidFill>
              <a:latin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200"/>
              </a:spcAft>
              <a:buClrTx/>
              <a:buSzTx/>
              <a:buNone/>
            </a:pPr>
            <a:r>
              <a:rPr sz="1200">
                <a:solidFill>
                  <a:srgbClr val="2C374B"/>
                </a:solidFill>
                <a:latin typeface="微软雅黑" panose="020B0503020204020204" charset="-122"/>
              </a:rPr>
              <a:t>• attempt_history</a:t>
            </a:r>
            <a:endParaRPr sz="1200">
              <a:solidFill>
                <a:srgbClr val="2C374B"/>
              </a:solidFill>
              <a:latin typeface="微软雅黑" panose="020B0503020204020204" charset="-122"/>
            </a:endParaRPr>
          </a:p>
          <a:p>
            <a:pPr algn="l">
              <a:lnSpc>
                <a:spcPct val="104000"/>
              </a:lnSpc>
              <a:spcAft>
                <a:spcPts val="200"/>
              </a:spcAft>
              <a:buClrTx/>
              <a:buSzTx/>
              <a:buNone/>
            </a:pPr>
            <a:r>
              <a:rPr sz="1200">
                <a:solidFill>
                  <a:srgbClr val="2C374B"/>
                </a:solidFill>
                <a:latin typeface="微软雅黑" panose="020B0503020204020204" charset="-122"/>
              </a:rPr>
              <a:t>• milestones</a:t>
            </a:r>
            <a:endParaRPr sz="120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3611880"/>
            <a:ext cx="11173968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721608"/>
            <a:ext cx="10844784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近期工程增量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2960" y="4096512"/>
            <a:ext cx="1261872" cy="731520"/>
          </a:xfrm>
          <a:prstGeom prst="roundRect">
            <a:avLst/>
          </a:prstGeom>
          <a:solidFill>
            <a:srgbClr val="E5ED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50" b="1">
                <a:solidFill>
                  <a:srgbClr val="2563EB"/>
                </a:solidFill>
                <a:latin typeface="微软雅黑" panose="020B0503020204020204" charset="-122"/>
              </a:rPr>
              <a:t>44</a:t>
            </a:r>
            <a:endParaRPr sz="1850" b="1">
              <a:solidFill>
                <a:srgbClr val="2563EB"/>
              </a:solidFill>
              <a:latin typeface="微软雅黑" panose="020B0503020204020204" charset="-122"/>
            </a:endParaRPr>
          </a:p>
          <a:p>
            <a:pPr algn="ctr"/>
            <a:r>
              <a:rPr sz="760" b="0">
                <a:solidFill>
                  <a:srgbClr val="64748B"/>
                </a:solidFill>
                <a:latin typeface="微软雅黑" panose="020B0503020204020204" charset="-122"/>
              </a:rPr>
              <a:t>6.13 影响文件</a:t>
            </a:r>
            <a:endParaRPr sz="76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331720" y="4096512"/>
            <a:ext cx="1261872" cy="731520"/>
          </a:xfrm>
          <a:prstGeom prst="roundRect">
            <a:avLst/>
          </a:prstGeom>
          <a:solidFill>
            <a:srgbClr val="E0F5F2"/>
          </a:solidFill>
          <a:ln w="1016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50" b="1">
                <a:solidFill>
                  <a:srgbClr val="0D746A"/>
                </a:solidFill>
                <a:latin typeface="微软雅黑" panose="020B0503020204020204" charset="-122"/>
              </a:rPr>
              <a:t>2249+</a:t>
            </a:r>
            <a:endParaRPr sz="1850" b="1">
              <a:solidFill>
                <a:srgbClr val="0D746A"/>
              </a:solidFill>
              <a:latin typeface="微软雅黑" panose="020B0503020204020204" charset="-122"/>
            </a:endParaRPr>
          </a:p>
          <a:p>
            <a:pPr algn="ctr"/>
            <a:r>
              <a:rPr sz="760" b="0">
                <a:solidFill>
                  <a:srgbClr val="64748B"/>
                </a:solidFill>
                <a:latin typeface="微软雅黑" panose="020B0503020204020204" charset="-122"/>
              </a:rPr>
              <a:t>6.13 新增行</a:t>
            </a:r>
            <a:endParaRPr sz="76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840480" y="4096512"/>
            <a:ext cx="1261872" cy="731520"/>
          </a:xfrm>
          <a:prstGeom prst="roundRect">
            <a:avLst/>
          </a:prstGeom>
          <a:solidFill>
            <a:srgbClr val="FFF5E0"/>
          </a:solidFill>
          <a:ln w="10160">
            <a:solidFill>
              <a:srgbClr val="C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50" b="1">
                <a:solidFill>
                  <a:srgbClr val="CA7000"/>
                </a:solidFill>
                <a:latin typeface="微软雅黑" panose="020B0503020204020204" charset="-122"/>
              </a:rPr>
              <a:t>534</a:t>
            </a:r>
            <a:endParaRPr sz="1850" b="1">
              <a:solidFill>
                <a:srgbClr val="CA7000"/>
              </a:solidFill>
              <a:latin typeface="微软雅黑" panose="020B0503020204020204" charset="-122"/>
            </a:endParaRPr>
          </a:p>
          <a:p>
            <a:pPr algn="ctr"/>
            <a:r>
              <a:rPr sz="760" b="0">
                <a:solidFill>
                  <a:srgbClr val="64748B"/>
                </a:solidFill>
                <a:latin typeface="微软雅黑" panose="020B0503020204020204" charset="-122"/>
              </a:rPr>
              <a:t>当前 diff 新增行</a:t>
            </a:r>
            <a:endParaRPr sz="76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32120" y="4005072"/>
            <a:ext cx="5806440" cy="21272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微软雅黑" panose="020B0503020204020204" charset="-122"/>
              </a:rPr>
              <a:t>已提交</a:t>
            </a:r>
            <a:endParaRPr sz="11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32120" y="4370832"/>
            <a:ext cx="2606040" cy="114300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4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940" b="0">
                <a:solidFill>
                  <a:srgbClr val="2C374B"/>
                </a:solidFill>
                <a:latin typeface="微软雅黑" panose="020B0503020204020204" charset="-122"/>
              </a:rPr>
              <a:t>新增 environment.py / safety.py</a:t>
            </a:r>
            <a:endParaRPr sz="94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4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940" b="0">
                <a:solidFill>
                  <a:srgbClr val="2C374B"/>
                </a:solidFill>
                <a:latin typeface="微软雅黑" panose="020B0503020204020204" charset="-122"/>
              </a:rPr>
              <a:t>Agent trace 与 milestones 入结果</a:t>
            </a:r>
            <a:endParaRPr sz="94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4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940" b="0">
                <a:solidFill>
                  <a:srgbClr val="2C374B"/>
                </a:solidFill>
                <a:latin typeface="微软雅黑" panose="020B0503020204020204" charset="-122"/>
              </a:rPr>
              <a:t>项目目录与 README 规范化</a:t>
            </a:r>
            <a:endParaRPr sz="94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66760" y="4005072"/>
            <a:ext cx="283464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微软雅黑" panose="020B0503020204020204" charset="-122"/>
              </a:rPr>
              <a:t>当前工作区强化</a:t>
            </a:r>
            <a:endParaRPr sz="11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66760" y="4370832"/>
            <a:ext cx="2743200" cy="114300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40" b="1">
                <a:solidFill>
                  <a:srgbClr val="CA7000"/>
                </a:solidFill>
                <a:latin typeface="微软雅黑" panose="020B0503020204020204" charset="-122"/>
              </a:rPr>
              <a:t>• </a:t>
            </a:r>
            <a:r>
              <a:rPr sz="940" b="0">
                <a:solidFill>
                  <a:srgbClr val="2C374B"/>
                </a:solidFill>
                <a:latin typeface="微软雅黑" panose="020B0503020204020204" charset="-122"/>
              </a:rPr>
              <a:t>PCAP / Vulhub README 反解 Raw HTTP</a:t>
            </a:r>
            <a:endParaRPr sz="94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40" b="1">
                <a:solidFill>
                  <a:srgbClr val="CA7000"/>
                </a:solidFill>
                <a:latin typeface="微软雅黑" panose="020B0503020204020204" charset="-122"/>
              </a:rPr>
              <a:t>• </a:t>
            </a:r>
            <a:r>
              <a:rPr sz="940" b="0">
                <a:solidFill>
                  <a:srgbClr val="2C374B"/>
                </a:solidFill>
                <a:latin typeface="微软雅黑" panose="020B0503020204020204" charset="-122"/>
              </a:rPr>
              <a:t>raw socket 保留特殊路径字节</a:t>
            </a:r>
            <a:endParaRPr sz="94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940" b="1">
                <a:solidFill>
                  <a:srgbClr val="CA7000"/>
                </a:solidFill>
                <a:latin typeface="微软雅黑" panose="020B0503020204020204" charset="-122"/>
              </a:rPr>
              <a:t>• </a:t>
            </a:r>
            <a:r>
              <a:rPr sz="940" b="0">
                <a:solidFill>
                  <a:srgbClr val="2C374B"/>
                </a:solidFill>
                <a:latin typeface="微软雅黑" panose="020B0503020204020204" charset="-122"/>
              </a:rPr>
              <a:t>只有当前 CVE IPS 命中才写成功 KB</a:t>
            </a:r>
            <a:endParaRPr sz="94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64748B"/>
                </a:solidFill>
                <a:latin typeface="微软雅黑" panose="020B0503020204020204" charset="-122"/>
              </a:rPr>
              <a:t>来源：git show db7e4b8 --stat；git diff --stat；README.md；cve_hunter/graph.py、verification.py、tools/local_kb.py</a:t>
            </a:r>
            <a:endParaRPr sz="7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39814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250" b="1">
                <a:solidFill>
                  <a:srgbClr val="0F172A"/>
                </a:solidFill>
                <a:latin typeface="微软雅黑" panose="020B0503020204020204" charset="-122"/>
              </a:rPr>
              <a:t>一：环境搭建能力</a:t>
            </a:r>
            <a:endParaRPr sz="225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932688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4748B"/>
                </a:solidFill>
                <a:latin typeface="微软雅黑" panose="020B0503020204020204" charset="-122"/>
              </a:rPr>
              <a:t>定位要准确：发现、绑定并可选启动已有靶场；不是从零自动生成任意 CVE 环境</a:t>
            </a:r>
            <a:endParaRPr sz="8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41732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>
                <a:solidFill>
                  <a:srgbClr val="0D746A"/>
                </a:solidFill>
                <a:latin typeface="微软雅黑" panose="020B0503020204020204" charset="-122"/>
              </a:rPr>
              <a:t>Environment</a:t>
            </a:r>
            <a:endParaRPr sz="8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111739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52728"/>
            <a:ext cx="10844784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EnvironmentAgent 主路径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700784"/>
            <a:ext cx="1298448" cy="694944"/>
          </a:xfrm>
          <a:prstGeom prst="roundRect">
            <a:avLst/>
          </a:prstGeom>
          <a:solidFill>
            <a:srgbClr val="E0F5F2"/>
          </a:solidFill>
          <a:ln w="1270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0D746A"/>
                </a:solidFill>
                <a:latin typeface="微软雅黑" panose="020B0503020204020204" charset="-122"/>
              </a:rPr>
              <a:t>输入 CVE</a:t>
            </a:r>
            <a:endParaRPr sz="1010" b="1">
              <a:solidFill>
                <a:srgbClr val="0D746A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NVD + HTTP 分类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78608" y="1700784"/>
            <a:ext cx="1298448" cy="694944"/>
          </a:xfrm>
          <a:prstGeom prst="roundRect">
            <a:avLst/>
          </a:prstGeom>
          <a:solidFill>
            <a:srgbClr val="E5ED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2563EB"/>
                </a:solidFill>
                <a:latin typeface="微软雅黑" panose="020B0503020204020204" charset="-122"/>
              </a:rPr>
              <a:t>发现环境</a:t>
            </a:r>
            <a:endParaRPr sz="1010" b="1">
              <a:solidFill>
                <a:srgbClr val="2563EB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显式 compose
或 Vulhub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0832" y="1700784"/>
            <a:ext cx="1298448" cy="694944"/>
          </a:xfrm>
          <a:prstGeom prst="roundRect">
            <a:avLst/>
          </a:prstGeom>
          <a:solidFill>
            <a:srgbClr val="FFF5E0"/>
          </a:solidFill>
          <a:ln w="12700">
            <a:solidFill>
              <a:srgbClr val="C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CA7000"/>
                </a:solidFill>
                <a:latin typeface="微软雅黑" panose="020B0503020204020204" charset="-122"/>
              </a:rPr>
              <a:t>推断目标</a:t>
            </a:r>
            <a:endParaRPr sz="1010" b="1">
              <a:solidFill>
                <a:srgbClr val="CA7000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解析 ports
选择 Web 服务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1700784"/>
            <a:ext cx="1298448" cy="694944"/>
          </a:xfrm>
          <a:prstGeom prst="roundRect">
            <a:avLst/>
          </a:prstGeom>
          <a:solidFill>
            <a:srgbClr val="E4F8EB"/>
          </a:solidFill>
          <a:ln w="12700">
            <a:solidFill>
              <a:srgbClr val="168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168B44"/>
                </a:solidFill>
                <a:latin typeface="微软雅黑" panose="020B0503020204020204" charset="-122"/>
              </a:rPr>
              <a:t>可选启动</a:t>
            </a:r>
            <a:endParaRPr sz="1010" b="1">
              <a:solidFill>
                <a:srgbClr val="168B44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AUTO_ENV=true
docker compose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73568" y="1700784"/>
            <a:ext cx="1298448" cy="694944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6D28D9"/>
                </a:solidFill>
                <a:latin typeface="微软雅黑" panose="020B0503020204020204" charset="-122"/>
              </a:rPr>
              <a:t>安全策略</a:t>
            </a:r>
            <a:endParaRPr sz="1010" b="1">
              <a:solidFill>
                <a:srgbClr val="6D28D9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RUN_MODE
allowlist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710928" y="1700784"/>
            <a:ext cx="1298448" cy="694944"/>
          </a:xfrm>
          <a:prstGeom prst="roundRect">
            <a:avLst/>
          </a:prstGeom>
          <a:solidFill>
            <a:srgbClr val="E0F5F2"/>
          </a:solidFill>
          <a:ln w="1270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0D746A"/>
                </a:solidFill>
                <a:latin typeface="微软雅黑" panose="020B0503020204020204" charset="-122"/>
              </a:rPr>
              <a:t>归档</a:t>
            </a:r>
            <a:endParaRPr sz="1010" b="1">
              <a:solidFill>
                <a:srgbClr val="0D746A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manifest
setup_result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2048256"/>
            <a:ext cx="41148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528315" y="1997964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877056" y="2048256"/>
            <a:ext cx="493776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320540" y="1997964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669280" y="2048256"/>
            <a:ext cx="530352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6149340" y="1997964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498079" y="2048256"/>
            <a:ext cx="475489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7923276" y="1997964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272016" y="2048256"/>
            <a:ext cx="438912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9660636" y="1997964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2606040"/>
            <a:ext cx="96926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20" b="0">
                <a:solidFill>
                  <a:srgbClr val="64748B"/>
                </a:solidFill>
                <a:latin typeface="微软雅黑" panose="020B0503020204020204" charset="-122"/>
              </a:rPr>
              <a:t>输出：output/&lt;CVE-ID&gt;/environment_manifest.json，记录 target_url、compose_file、setup_mode、setup_result、safety.network_scope。</a:t>
            </a:r>
            <a:endParaRPr sz="92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3429000"/>
            <a:ext cx="539496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538728"/>
            <a:ext cx="506577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已经能做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2" y="3867912"/>
            <a:ext cx="4892040" cy="150876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显式 compose 优先；本地 Vulhub 风格目录自动发现。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从 services.*.ports 推断目标 URL，优先 Web 服务端口。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AUTO_ENV_ENABLED=true 时执行 pull / up -d，并记录结果。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168B44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执行前由 safety.py 判断 plan_only / local_lab / authorized_target。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91072" y="3429000"/>
            <a:ext cx="5385816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3538728"/>
            <a:ext cx="5056631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边界与新增强化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3680" y="3867912"/>
            <a:ext cx="4828032" cy="96012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CA7000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尚不能自动生成 Dockerfile、选择版本镜像、初始化账号/数据或健康修复。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CA7000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当前 diff：本地 KB 可从 PCAP 和 Vulhub README 直接提取 Raw HTTP。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64748B"/>
                </a:solidFill>
                <a:latin typeface="微软雅黑" panose="020B0503020204020204" charset="-122"/>
              </a:rPr>
              <a:t>来源：cve_hunter/agents.py、environment.py、safety.py；tests/test_agents.py、test_environment.py；README.md 环境配置段</a:t>
            </a:r>
            <a:endParaRPr sz="7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39814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250" b="1">
                <a:solidFill>
                  <a:srgbClr val="0F172A"/>
                </a:solidFill>
                <a:latin typeface="微软雅黑" panose="020B0503020204020204" charset="-122"/>
              </a:rPr>
              <a:t>二：多 Agent 编排与反馈闭环</a:t>
            </a:r>
            <a:endParaRPr sz="225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932688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4748B"/>
                </a:solidFill>
                <a:latin typeface="微软雅黑" panose="020B0503020204020204" charset="-122"/>
              </a:rPr>
              <a:t>LangGraph 路由节点；agent_trace、candidate_reviews、attempt_history 记录角色级证据</a:t>
            </a:r>
            <a:endParaRPr sz="88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41732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>
                <a:solidFill>
                  <a:srgbClr val="0D746A"/>
                </a:solidFill>
                <a:latin typeface="微软雅黑" panose="020B0503020204020204" charset="-122"/>
              </a:rPr>
              <a:t>Multi-Agent</a:t>
            </a:r>
            <a:endParaRPr sz="880" b="1">
              <a:solidFill>
                <a:srgbClr val="0D746A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115568"/>
            <a:ext cx="11173968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25295"/>
            <a:ext cx="10844784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角色化流水线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4672" y="1627632"/>
            <a:ext cx="1234440" cy="713232"/>
          </a:xfrm>
          <a:prstGeom prst="roundRect">
            <a:avLst/>
          </a:prstGeom>
          <a:solidFill>
            <a:srgbClr val="E0F5F2"/>
          </a:solidFill>
          <a:ln w="1270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0D746A"/>
                </a:solidFill>
                <a:latin typeface="微软雅黑" panose="020B0503020204020204" charset="-122"/>
              </a:rPr>
              <a:t>Environment</a:t>
            </a:r>
            <a:endParaRPr sz="1010" b="1">
              <a:solidFill>
                <a:srgbClr val="0D746A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target
manifest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359152" y="1627632"/>
            <a:ext cx="1234440" cy="713232"/>
          </a:xfrm>
          <a:prstGeom prst="roundRect">
            <a:avLst/>
          </a:prstGeom>
          <a:solidFill>
            <a:srgbClr val="E5ED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2563EB"/>
                </a:solidFill>
                <a:latin typeface="微软雅黑" panose="020B0503020204020204" charset="-122"/>
              </a:rPr>
              <a:t>Trigger</a:t>
            </a:r>
            <a:endParaRPr sz="1010" b="1">
              <a:solidFill>
                <a:srgbClr val="2563EB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logic
hint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913632" y="1627632"/>
            <a:ext cx="1325880" cy="713232"/>
          </a:xfrm>
          <a:prstGeom prst="roundRect">
            <a:avLst/>
          </a:prstGeom>
          <a:solidFill>
            <a:srgbClr val="FFF5E0"/>
          </a:solidFill>
          <a:ln w="12700">
            <a:solidFill>
              <a:srgbClr val="CA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CA7000"/>
                </a:solidFill>
                <a:latin typeface="微软雅黑" panose="020B0503020204020204" charset="-122"/>
              </a:rPr>
              <a:t>PoC Pool</a:t>
            </a:r>
            <a:endParaRPr sz="1010" b="1">
              <a:solidFill>
                <a:srgbClr val="CA7000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多来源
候选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559552" y="1627632"/>
            <a:ext cx="1234440" cy="713232"/>
          </a:xfrm>
          <a:prstGeom prst="roundRect">
            <a:avLst/>
          </a:prstGeom>
          <a:solidFill>
            <a:srgbClr val="F0EA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6D28D9"/>
                </a:solidFill>
                <a:latin typeface="微软雅黑" panose="020B0503020204020204" charset="-122"/>
              </a:rPr>
              <a:t>Critic</a:t>
            </a:r>
            <a:endParaRPr sz="1010" b="1">
              <a:solidFill>
                <a:srgbClr val="6D28D9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审查
补字段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14032" y="1627632"/>
            <a:ext cx="1325880" cy="713232"/>
          </a:xfrm>
          <a:prstGeom prst="roundRect">
            <a:avLst/>
          </a:prstGeom>
          <a:solidFill>
            <a:srgbClr val="E4F8EB"/>
          </a:solidFill>
          <a:ln w="12700">
            <a:solidFill>
              <a:srgbClr val="168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168B44"/>
                </a:solidFill>
                <a:latin typeface="微软雅黑" panose="020B0503020204020204" charset="-122"/>
              </a:rPr>
              <a:t>Verifier</a:t>
            </a:r>
            <a:endParaRPr sz="1010" b="1">
              <a:solidFill>
                <a:srgbClr val="168B44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执行
采证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759952" y="1627632"/>
            <a:ext cx="1234440" cy="713232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C8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C82929"/>
                </a:solidFill>
                <a:latin typeface="微软雅黑" panose="020B0503020204020204" charset="-122"/>
              </a:rPr>
              <a:t>Oracle</a:t>
            </a:r>
            <a:endParaRPr sz="1010" b="1">
              <a:solidFill>
                <a:srgbClr val="C82929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IPS +
target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222992" y="1627632"/>
            <a:ext cx="1143000" cy="713232"/>
          </a:xfrm>
          <a:prstGeom prst="roundRect">
            <a:avLst/>
          </a:prstGeom>
          <a:solidFill>
            <a:srgbClr val="E0F5F2"/>
          </a:solidFill>
          <a:ln w="12700">
            <a:solidFill>
              <a:srgbClr val="0D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10" b="1">
                <a:solidFill>
                  <a:srgbClr val="0D746A"/>
                </a:solidFill>
                <a:latin typeface="微软雅黑" panose="020B0503020204020204" charset="-122"/>
              </a:rPr>
              <a:t>Reporter</a:t>
            </a:r>
            <a:endParaRPr sz="1010" b="1">
              <a:solidFill>
                <a:srgbClr val="0D746A"/>
              </a:solidFill>
              <a:latin typeface="微软雅黑" panose="020B0503020204020204" charset="-122"/>
            </a:endParaRPr>
          </a:p>
          <a:p>
            <a:pPr algn="ctr">
              <a:lnSpc>
                <a:spcPct val="95000"/>
              </a:lnSpc>
            </a:pPr>
            <a:r>
              <a:rPr sz="770" b="0">
                <a:solidFill>
                  <a:srgbClr val="2C374B"/>
                </a:solidFill>
                <a:latin typeface="微软雅黑" panose="020B0503020204020204" charset="-122"/>
              </a:rPr>
              <a:t>归档
报告</a:t>
            </a:r>
            <a:endParaRPr sz="77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2039112" y="1984248"/>
            <a:ext cx="32004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2308860" y="1933955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593592" y="1984248"/>
            <a:ext cx="32004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863340" y="1933955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239512" y="1984248"/>
            <a:ext cx="32004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5509260" y="1933955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793992" y="1984248"/>
            <a:ext cx="32004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7063740" y="1933955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439912" y="1984248"/>
            <a:ext cx="32004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8709660" y="1933955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994392" y="1984248"/>
            <a:ext cx="22860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0172700" y="1933955"/>
            <a:ext cx="100584" cy="100584"/>
          </a:xfrm>
          <a:prstGeom prst="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5577840" y="2651760"/>
            <a:ext cx="2651760" cy="0"/>
          </a:xfrm>
          <a:prstGeom prst="line">
            <a:avLst/>
          </a:prstGeom>
          <a:ln w="20320">
            <a:solidFill>
              <a:srgbClr val="CA7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6200000">
            <a:off x="5527548" y="2601468"/>
            <a:ext cx="100584" cy="100584"/>
          </a:xfrm>
          <a:prstGeom prst="triangle">
            <a:avLst/>
          </a:prstGeom>
          <a:solidFill>
            <a:srgbClr val="CA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2788920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CA7000"/>
                </a:solidFill>
                <a:latin typeface="微软雅黑" panose="020B0503020204020204" charset="-122"/>
              </a:rPr>
              <a:t>失败反馈：Reflection 最多 2 轮小变体</a:t>
            </a:r>
            <a:endParaRPr sz="840" b="1">
              <a:solidFill>
                <a:srgbClr val="CA7000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2920" y="3703320"/>
            <a:ext cx="5486400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3813048"/>
            <a:ext cx="5157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已落地的 Agent 边界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4672" y="4133087"/>
            <a:ext cx="4956048" cy="128016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EnvironmentAgent：只负责环境规划和可选启动。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TriggerAgent：输出 attack_objective 与 validation_hint。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CriticAgent：检查候选格式、证据、置信度。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Verifier/Oracle：执行与成功判定分离，IPS 命中和目标侧 oracle 分开记录。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91072" y="3703320"/>
            <a:ext cx="5385816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3813048"/>
            <a:ext cx="5056631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0F172A"/>
                </a:solidFill>
                <a:latin typeface="微软雅黑" panose="020B0503020204020204" charset="-122"/>
              </a:rPr>
              <a:t>为什么重要</a:t>
            </a:r>
            <a:endParaRPr sz="114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133087"/>
            <a:ext cx="4828032" cy="1280160"/>
          </a:xfrm>
          <a:prstGeom prst="rect">
            <a:avLst/>
          </a:prstGeom>
          <a:noFill/>
        </p:spPr>
        <p:txBody>
          <a:bodyPr wrap="square" lIns="27432" tIns="9144" rIns="27432" bIns="9144">
            <a:norm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失败不再只剩一个状态码，可回看候选、审查意见、请求结果和 oracle。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候选池避免“多个 PoC 只试第一个”。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0D746A"/>
                </a:solidFill>
                <a:latin typeface="微软雅黑" panose="020B0503020204020204" charset="-122"/>
              </a:rPr>
              <a:t>• </a:t>
            </a:r>
            <a:r>
              <a:rPr sz="1400" b="0">
                <a:solidFill>
                  <a:srgbClr val="2C374B"/>
                </a:solidFill>
                <a:latin typeface="微软雅黑" panose="020B0503020204020204" charset="-122"/>
              </a:rPr>
              <a:t>目标侧成功不会直接放宽 CAPTURE_SUCCESS，交付口径更稳。</a:t>
            </a:r>
            <a:endParaRPr sz="1400" b="0">
              <a:solidFill>
                <a:srgbClr val="2C374B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64748B"/>
                </a:solidFill>
                <a:latin typeface="微软雅黑" panose="020B0503020204020204" charset="-122"/>
              </a:rPr>
              <a:t>来源：cve_hunter/agents.py、graph.py、state.py、verification.py；docs/reports/当前项目能力现状总结.md</a:t>
            </a:r>
            <a:endParaRPr sz="7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4301</Words>
  <Application>WPS 演示</Application>
  <PresentationFormat>On-screen Show (4:3)</PresentationFormat>
  <Paragraphs>296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禹光忍</cp:lastModifiedBy>
  <cp:revision>6</cp:revision>
  <dcterms:created xsi:type="dcterms:W3CDTF">2013-01-27T09:14:00Z</dcterms:created>
  <dcterms:modified xsi:type="dcterms:W3CDTF">2026-06-18T07:25:10Z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0567A4BF10D849499A4D0666266C44F3_12</vt:lpwstr>
  </property>
  <property fmtid="{D5CDD505-2E9C-101B-9397-08002B2CF9AE}" pid="3" name="KSOProductBuildVer">
    <vt:lpwstr>2052-12.1.0.23542</vt:lpwstr>
  </property>
</Properties>
</file>